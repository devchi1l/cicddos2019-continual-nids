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Thirty seconds. One sentence on the problem, one on the result, one on the scope. Say 'four-label' and 'post hoc' out loud now so nobody hears a 12-label claim later.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Replay buffers stop forgetting but are an attack surface. The reference paper (Ariffin et al., arXiv 2608.04602, CICIDS2017) showed label flipping on the buffer collapses accuracy and proposed no defence. Our contribution is not a new architecture: it is a gated update protocol with a frozen teacher and one repair, tested with pre-registered experiments on an audited CICDDoS2019 pipeline. We do not claim the gate idea is new in the literature; we did not survey that systematically.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read all 70,427,637 rows once, but the data is mostly copies: 59,924,164 within-file duplicates. Filenames are not labels: 03-11/UDPLag.csv is mostly Syn, so the label column decides. Benign is 0.16%; we keep every distinct benign row. Training used capped subsets only: 98,833 rows for the four-label experiments. Never say we trained on 70 million rows.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E0 trains the first model on benign plus Syn. Each update brings one new attack class and a fresh, disjoint benign portion (that is CII). The scaler is fitted on E0 only and frozen. 166 validation/test rows whose scaled input equals a training input were excluded, so evaluation never sees a training input. The buffer keeps 2,000 rows per class from each accepted experience.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numeric feature becomes its own 32-dimensional token, x_j times W_j plus b_j; protocol becomes an embedding token; a learned CLS token goes first. 79 tokens pass through 3 PreNorm encoder layers with 4 heads of 8 dimensions. The final CLS vector goes to LayerNorm and a linear head. 43,396 parameters with 4 classes. It is NOT the original TabTransformer, which attends only over categorical columns; the class name in the code is historical.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diagram left to right. T is a frozen copy of the E0 model; A0 is the copy that keeps learning. Each update trains C1 on new data plus the buffer. The gate checks validation only: old-class recall within 0.05 of the last accepted model, new class at least 0.80, both false-alarm rates at most 0.05. If C1 fails, the repair arm tries R1 once, restarting from the last accepted model and using T on the buffer. If R1 also fails, we keep the old model. Only accepted experiences enter the buffer.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Context first: in the pre-registered sweep, soft repair worked up to 95% flips, learning all four classes in 9 of 9 repair runs versus 3 of 9 gate-only, but failed at 100% because no correct Syn label was left. FU2 deploys teacher relabelling at 100%. Read the table: the plain update C1 drops Syn recall to zero and the gate rejects it; relabel R1 restores 1,994-1,995 labels and passes, at E1 and E2, in all three seeds. Say clearly: the method is post hoc, and E1 replays the earlier diagnostic, so E2 and the test are the new evidence.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46,527 test rows for every arm, scored once after the validation commit for FU2. Relabelling learns all four classes, within about 0.01 of clean, with the same benign false-alarm rate. Gate-only and soft repair keep the stale A0, which calls LDAP and UDP benign; their false-alarm rate of 0 is not safety. Scope: four labels, one attacked class, 3 seeds, post hoc method.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12 labels even CLEAN updates fail the gate: DNS overlaps LDAP and UDP overlaps SSDP, and a rejected block is lost for good. The continual CII models keep 6 of 12 classes. A retry recipe (FU1) learned DNS/LDAP but lost others. A jointly trained oracle reaches all 12 classes but is weak on DNS/LDAP and UDP even without continual learning, and it is a diagnostic, not a defended continual result. So we claim four labels only.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RF is post hoc and uses three fixed classes with six traffic-refresh updates, no new class. Before every update 10 percent more stored Syn labels are flipped, 60 percent by the end. Every poisoned update passed the gate, so repair never ran. Recall stayed at 0.994, but the model's confidence on Syn fell to 0.77. Validation is the top row of the figure, held-out test the bottom row. Close: the four-class defence works; the gate needs a confidence check, which is our proposed next step, not a result.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lgn="l">
              <a:spcAft>
                <a:spcPts val="400"/>
              </a:spcAft>
            </a:pPr>
            <a:r>
              <a:rPr sz="2800" b="1">
                <a:solidFill>
                  <a:srgbClr val="0B0B0B"/>
                </a:solidFill>
                <a:latin typeface="Calibri"/>
              </a:rPr>
              <a:t>Poison-resilient continual intrusion detection on CICDDoS2019</a:t>
            </a:r>
          </a:p>
        </p:txBody>
      </p:sp>
      <p:sp>
        <p:nvSpPr>
          <p:cNvPr id="3" name="TextBox 2"/>
          <p:cNvSpPr txBox="1"/>
          <p:nvPr/>
        </p:nvSpPr>
        <p:spPr>
          <a:xfrm>
            <a:off x="10881360" y="6446520"/>
            <a:ext cx="1097280" cy="274320"/>
          </a:xfrm>
          <a:prstGeom prst="rect">
            <a:avLst/>
          </a:prstGeom>
          <a:noFill/>
        </p:spPr>
        <p:txBody>
          <a:bodyPr wrap="square">
            <a:spAutoFit/>
          </a:bodyPr>
          <a:lstStyle/>
          <a:p>
            <a:pPr algn="r">
              <a:spcAft>
                <a:spcPts val="400"/>
              </a:spcAft>
            </a:pPr>
            <a:r>
              <a:rPr sz="1000" b="0">
                <a:solidFill>
                  <a:srgbClr val="6E6D69"/>
                </a:solidFill>
                <a:latin typeface="Calibri"/>
              </a:rPr>
              <a:t>1 / 10</a:t>
            </a:r>
          </a:p>
        </p:txBody>
      </p:sp>
      <p:sp>
        <p:nvSpPr>
          <p:cNvPr id="4" name="TextBox 3"/>
          <p:cNvSpPr txBox="1"/>
          <p:nvPr/>
        </p:nvSpPr>
        <p:spPr>
          <a:xfrm>
            <a:off x="457200" y="6446520"/>
            <a:ext cx="8229600" cy="274320"/>
          </a:xfrm>
          <a:prstGeom prst="rect">
            <a:avLst/>
          </a:prstGeom>
          <a:noFill/>
        </p:spPr>
        <p:txBody>
          <a:bodyPr wrap="square">
            <a:spAutoFit/>
          </a:bodyPr>
          <a:lstStyle/>
          <a:p>
            <a:pPr algn="l">
              <a:spcAft>
                <a:spcPts val="400"/>
              </a:spcAft>
            </a:pPr>
            <a:r>
              <a:rPr sz="900" b="0">
                <a:solidFill>
                  <a:srgbClr val="6E6D69"/>
                </a:solidFill>
                <a:latin typeface="Calibri"/>
              </a:rPr>
              <a:t>Source: github.com/DevChi1l/cicddos2019-continual-nids (committed files; tables: docs/RESULT_TABLES.md)</a:t>
            </a:r>
          </a:p>
        </p:txBody>
      </p:sp>
      <p:sp>
        <p:nvSpPr>
          <p:cNvPr id="5" name="TextBox 4"/>
          <p:cNvSpPr txBox="1"/>
          <p:nvPr/>
        </p:nvSpPr>
        <p:spPr>
          <a:xfrm>
            <a:off x="457200" y="1188720"/>
            <a:ext cx="11247120" cy="548640"/>
          </a:xfrm>
          <a:prstGeom prst="rect">
            <a:avLst/>
          </a:prstGeom>
          <a:noFill/>
        </p:spPr>
        <p:txBody>
          <a:bodyPr wrap="square">
            <a:spAutoFit/>
          </a:bodyPr>
          <a:lstStyle/>
          <a:p>
            <a:pPr algn="l">
              <a:spcAft>
                <a:spcPts val="400"/>
              </a:spcAft>
            </a:pPr>
            <a:r>
              <a:rPr sz="1800" b="0">
                <a:solidFill>
                  <a:srgbClr val="40403E"/>
                </a:solidFill>
                <a:latin typeface="Calibri"/>
              </a:rPr>
              <a:t>Can a gate plus a frozen teacher keep a replay-based NIDS safe AND still learning when its stored labels are poisoned?</a:t>
            </a:r>
          </a:p>
        </p:txBody>
      </p:sp>
      <p:sp>
        <p:nvSpPr>
          <p:cNvPr id="6" name="Rounded Rectangle 5"/>
          <p:cNvSpPr/>
          <p:nvPr/>
        </p:nvSpPr>
        <p:spPr>
          <a:xfrm>
            <a:off x="457200" y="2103120"/>
            <a:ext cx="11247120" cy="1463040"/>
          </a:xfrm>
          <a:prstGeom prst="roundRect">
            <a:avLst/>
          </a:prstGeom>
          <a:solidFill>
            <a:srgbClr val="E8F1F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0B0B0B"/>
                </a:solidFill>
              </a:rPr>
              <a:t>Main result (four labels, CII, seeds 42-44)</a:t>
            </a:r>
          </a:p>
          <a:p>
            <a:pPr algn="ctr"/>
            <a:r>
              <a:rPr sz="1600" b="0">
                <a:solidFill>
                  <a:srgbClr val="0B0B0B"/>
                </a:solidFill>
              </a:rPr>
              <a:t>With ALL 2,000 stored Syn labels flipped to BENIGN, teacher relabelling learns all four classes in 3/3 seeds on held-out test:</a:t>
            </a:r>
          </a:p>
          <a:p>
            <a:pPr algn="ctr"/>
            <a:r>
              <a:rPr sz="1600" b="0">
                <a:solidFill>
                  <a:srgbClr val="0B0B0B"/>
                </a:solidFill>
              </a:rPr>
              <a:t>Syn 0.9952 · LDAP 0.9825 · UDP 0.9983 · benign FAR 0.0011   (gate only and soft repair: LDAP = UDP = 0)</a:t>
            </a:r>
          </a:p>
        </p:txBody>
      </p:sp>
      <p:sp>
        <p:nvSpPr>
          <p:cNvPr id="7" name="Rounded Rectangle 6"/>
          <p:cNvSpPr/>
          <p:nvPr/>
        </p:nvSpPr>
        <p:spPr>
          <a:xfrm>
            <a:off x="457200" y="3794760"/>
            <a:ext cx="1865376" cy="292608"/>
          </a:xfrm>
          <a:prstGeom prst="round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100" b="1">
                <a:solidFill>
                  <a:srgbClr val="FFFFFF"/>
                </a:solidFill>
              </a:rPr>
              <a:t>HELD-OUT TEST</a:t>
            </a:r>
          </a:p>
        </p:txBody>
      </p:sp>
      <p:sp>
        <p:nvSpPr>
          <p:cNvPr id="8" name="Rounded Rectangle 7"/>
          <p:cNvSpPr/>
          <p:nvPr/>
        </p:nvSpPr>
        <p:spPr>
          <a:xfrm>
            <a:off x="2432304" y="3794760"/>
            <a:ext cx="1271016" cy="292608"/>
          </a:xfrm>
          <a:prstGeom prst="roundRect">
            <a:avLst/>
          </a:prstGeom>
          <a:solidFill>
            <a:srgbClr val="B04A00"/>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100" b="1">
                <a:solidFill>
                  <a:srgbClr val="FFFFFF"/>
                </a:solidFill>
              </a:rPr>
              <a:t>POST HOC</a:t>
            </a:r>
          </a:p>
        </p:txBody>
      </p:sp>
      <p:sp>
        <p:nvSpPr>
          <p:cNvPr id="9" name="TextBox 8"/>
          <p:cNvSpPr txBox="1"/>
          <p:nvPr/>
        </p:nvSpPr>
        <p:spPr>
          <a:xfrm>
            <a:off x="3858768" y="3749039"/>
            <a:ext cx="7315200" cy="365760"/>
          </a:xfrm>
          <a:prstGeom prst="rect">
            <a:avLst/>
          </a:prstGeom>
          <a:noFill/>
        </p:spPr>
        <p:txBody>
          <a:bodyPr wrap="square">
            <a:spAutoFit/>
          </a:bodyPr>
          <a:lstStyle/>
          <a:p>
            <a:pPr algn="l">
              <a:spcAft>
                <a:spcPts val="400"/>
              </a:spcAft>
            </a:pPr>
            <a:r>
              <a:rPr sz="1300" b="0">
                <a:solidFill>
                  <a:srgbClr val="6E6D69"/>
                </a:solidFill>
                <a:latin typeface="Calibri"/>
              </a:rPr>
              <a:t>the relabel method was chosen after the pre-registered sweep's diagnostic</a:t>
            </a:r>
          </a:p>
        </p:txBody>
      </p:sp>
      <p:sp>
        <p:nvSpPr>
          <p:cNvPr id="10" name="TextBox 9"/>
          <p:cNvSpPr txBox="1"/>
          <p:nvPr/>
        </p:nvSpPr>
        <p:spPr>
          <a:xfrm>
            <a:off x="457200" y="4297680"/>
            <a:ext cx="11247120" cy="2011680"/>
          </a:xfrm>
          <a:prstGeom prst="rect">
            <a:avLst/>
          </a:prstGeom>
          <a:noFill/>
        </p:spPr>
        <p:txBody>
          <a:bodyPr wrap="square">
            <a:spAutoFit/>
          </a:bodyPr>
          <a:lstStyle/>
          <a:p>
            <a:pPr algn="l">
              <a:spcAft>
                <a:spcPts val="400"/>
              </a:spcAft>
            </a:pPr>
            <a:r>
              <a:rPr sz="1500" b="1">
                <a:solidFill>
                  <a:srgbClr val="0B0B0B"/>
                </a:solidFill>
                <a:latin typeface="Calibri"/>
              </a:rPr>
              <a:t>• Scope: </a:t>
            </a:r>
            <a:r>
              <a:rPr sz="1500" b="0">
                <a:solidFill>
                  <a:srgbClr val="40403E"/>
                </a:solidFill>
                <a:latin typeface="Calibri"/>
              </a:rPr>
              <a:t>four labels defended (BENIGN, Syn, LDAP, UDP); one attacked class (Syn); CII; 3 seeds; no significance claim</a:t>
            </a:r>
          </a:p>
          <a:p>
            <a:pPr algn="l">
              <a:spcAft>
                <a:spcPts val="400"/>
              </a:spcAft>
            </a:pPr>
            <a:r>
              <a:rPr sz="1500" b="1">
                <a:solidFill>
                  <a:srgbClr val="0B0B0B"/>
                </a:solidFill>
                <a:latin typeface="Calibri"/>
              </a:rPr>
              <a:t>• Not claimed: </a:t>
            </a:r>
            <a:r>
              <a:rPr sz="1500" b="0">
                <a:solidFill>
                  <a:srgbClr val="40403E"/>
                </a:solidFill>
                <a:latin typeface="Calibri"/>
              </a:rPr>
              <a:t>a 12- or 14-label defence (unsolved), or training on all 70.4M raw rows (we trained on capped, deduplicated subsets)</a:t>
            </a:r>
          </a:p>
          <a:p>
            <a:pPr algn="l">
              <a:spcAft>
                <a:spcPts val="400"/>
              </a:spcAft>
            </a:pPr>
            <a:r>
              <a:rPr sz="1500" b="1">
                <a:solidFill>
                  <a:srgbClr val="0B0B0B"/>
                </a:solidFill>
                <a:latin typeface="Calibri"/>
              </a:rPr>
              <a:t>• Known limitation: </a:t>
            </a:r>
            <a:r>
              <a:rPr sz="1500" b="0">
                <a:solidFill>
                  <a:srgbClr val="40403E"/>
                </a:solidFill>
                <a:latin typeface="Calibri"/>
              </a:rPr>
              <a:t>a recall-based gate does not see confidence loss (RF study, slide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lgn="l">
              <a:spcAft>
                <a:spcPts val="400"/>
              </a:spcAft>
            </a:pPr>
            <a:r>
              <a:rPr sz="2800" b="1">
                <a:solidFill>
                  <a:srgbClr val="0B0B0B"/>
                </a:solidFill>
                <a:latin typeface="Calibri"/>
              </a:rPr>
              <a:t>Problem, threat model and what is new here</a:t>
            </a:r>
          </a:p>
        </p:txBody>
      </p:sp>
      <p:sp>
        <p:nvSpPr>
          <p:cNvPr id="3" name="TextBox 2"/>
          <p:cNvSpPr txBox="1"/>
          <p:nvPr/>
        </p:nvSpPr>
        <p:spPr>
          <a:xfrm>
            <a:off x="10881360" y="6446520"/>
            <a:ext cx="1097280" cy="274320"/>
          </a:xfrm>
          <a:prstGeom prst="rect">
            <a:avLst/>
          </a:prstGeom>
          <a:noFill/>
        </p:spPr>
        <p:txBody>
          <a:bodyPr wrap="square">
            <a:spAutoFit/>
          </a:bodyPr>
          <a:lstStyle/>
          <a:p>
            <a:pPr algn="r">
              <a:spcAft>
                <a:spcPts val="400"/>
              </a:spcAft>
            </a:pPr>
            <a:r>
              <a:rPr sz="1000" b="0">
                <a:solidFill>
                  <a:srgbClr val="6E6D69"/>
                </a:solidFill>
                <a:latin typeface="Calibri"/>
              </a:rPr>
              <a:t>2 / 10</a:t>
            </a:r>
          </a:p>
        </p:txBody>
      </p:sp>
      <p:sp>
        <p:nvSpPr>
          <p:cNvPr id="4" name="TextBox 3"/>
          <p:cNvSpPr txBox="1"/>
          <p:nvPr/>
        </p:nvSpPr>
        <p:spPr>
          <a:xfrm>
            <a:off x="457200" y="6446520"/>
            <a:ext cx="8229600" cy="274320"/>
          </a:xfrm>
          <a:prstGeom prst="rect">
            <a:avLst/>
          </a:prstGeom>
          <a:noFill/>
        </p:spPr>
        <p:txBody>
          <a:bodyPr wrap="square">
            <a:spAutoFit/>
          </a:bodyPr>
          <a:lstStyle/>
          <a:p>
            <a:pPr algn="l">
              <a:spcAft>
                <a:spcPts val="400"/>
              </a:spcAft>
            </a:pPr>
            <a:r>
              <a:rPr sz="900" b="0">
                <a:solidFill>
                  <a:srgbClr val="6E6D69"/>
                </a:solidFill>
                <a:latin typeface="Calibri"/>
              </a:rPr>
              <a:t>Source: github.com/DevChi1l/cicddos2019-continual-nids (committed files; tables: docs/RESULT_TABLES.md)</a:t>
            </a:r>
          </a:p>
        </p:txBody>
      </p:sp>
      <p:sp>
        <p:nvSpPr>
          <p:cNvPr id="5" name="TextBox 4"/>
          <p:cNvSpPr txBox="1"/>
          <p:nvPr/>
        </p:nvSpPr>
        <p:spPr>
          <a:xfrm>
            <a:off x="457200" y="1188720"/>
            <a:ext cx="5669280" cy="5029200"/>
          </a:xfrm>
          <a:prstGeom prst="rect">
            <a:avLst/>
          </a:prstGeom>
          <a:noFill/>
        </p:spPr>
        <p:txBody>
          <a:bodyPr wrap="square">
            <a:spAutoFit/>
          </a:bodyPr>
          <a:lstStyle/>
          <a:p>
            <a:pPr algn="l">
              <a:spcAft>
                <a:spcPts val="400"/>
              </a:spcAft>
            </a:pPr>
            <a:r>
              <a:rPr sz="1500" b="1">
                <a:solidFill>
                  <a:srgbClr val="0B0B0B"/>
                </a:solidFill>
                <a:latin typeface="Calibri"/>
              </a:rPr>
              <a:t>• Continual NIDS: </a:t>
            </a:r>
            <a:r>
              <a:rPr sz="1500" b="0">
                <a:solidFill>
                  <a:srgbClr val="40403E"/>
                </a:solidFill>
                <a:latin typeface="Calibri"/>
              </a:rPr>
              <a:t>a detector keeps learning new attack types; replay mixes stored old rows into each update so it does not forget</a:t>
            </a:r>
          </a:p>
          <a:p>
            <a:pPr algn="l">
              <a:spcAft>
                <a:spcPts val="400"/>
              </a:spcAft>
            </a:pPr>
            <a:r>
              <a:rPr sz="1500" b="1">
                <a:solidFill>
                  <a:srgbClr val="0B0B0B"/>
                </a:solidFill>
                <a:latin typeface="Calibri"/>
              </a:rPr>
              <a:t>• Attack surface: </a:t>
            </a:r>
            <a:r>
              <a:rPr sz="1500" b="0">
                <a:solidFill>
                  <a:srgbClr val="40403E"/>
                </a:solidFill>
                <a:latin typeface="Calibri"/>
              </a:rPr>
              <a:t>whoever can edit stored labels can make it forget an old attack or block new learning</a:t>
            </a:r>
          </a:p>
          <a:p>
            <a:pPr algn="l">
              <a:spcAft>
                <a:spcPts val="400"/>
              </a:spcAft>
            </a:pPr>
            <a:r>
              <a:rPr sz="1500" b="1">
                <a:solidFill>
                  <a:srgbClr val="0B0B0B"/>
                </a:solidFill>
                <a:latin typeface="Calibri"/>
              </a:rPr>
              <a:t>• Threat model: </a:t>
            </a:r>
            <a:r>
              <a:rPr sz="1500" b="0">
                <a:solidFill>
                  <a:srgbClr val="40403E"/>
                </a:solidFill>
                <a:latin typeface="Calibri"/>
              </a:rPr>
              <a:t>flip a share f of the stored labels of ONE old class (Syn -&gt; BENIGN). The attacker cannot touch new data, validation, test, the teacher or gradients</a:t>
            </a:r>
          </a:p>
          <a:p>
            <a:pPr algn="l">
              <a:spcAft>
                <a:spcPts val="400"/>
              </a:spcAft>
            </a:pPr>
            <a:r>
              <a:rPr sz="1500" b="1">
                <a:solidFill>
                  <a:srgbClr val="0B0B0B"/>
                </a:solidFill>
                <a:latin typeface="Calibri"/>
              </a:rPr>
              <a:t>• Inherited: </a:t>
            </a:r>
            <a:r>
              <a:rPr sz="1500" b="0">
                <a:solidFill>
                  <a:srgbClr val="40403E"/>
                </a:solidFill>
                <a:latin typeface="Calibri"/>
              </a:rPr>
              <a:t>CI/CII scenarios, replay + buffer label-flipping threat, joint oracle (reference paper); feature-token Transformer (FT-Transformer, Gorishniy et al. 2021); CICDDoS2019 (Sharafaldin et al. 2019)</a:t>
            </a:r>
          </a:p>
        </p:txBody>
      </p:sp>
      <p:sp>
        <p:nvSpPr>
          <p:cNvPr id="6" name="Rounded Rectangle 5"/>
          <p:cNvSpPr/>
          <p:nvPr/>
        </p:nvSpPr>
        <p:spPr>
          <a:xfrm>
            <a:off x="6400800" y="1280160"/>
            <a:ext cx="5303520" cy="457200"/>
          </a:xfrm>
          <a:prstGeom prst="roundRect">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0B0B0B"/>
                </a:solidFill>
              </a:rPr>
              <a:t>Our contribution (implemented and measured)</a:t>
            </a:r>
          </a:p>
        </p:txBody>
      </p:sp>
      <p:sp>
        <p:nvSpPr>
          <p:cNvPr id="7" name="TextBox 6"/>
          <p:cNvSpPr txBox="1"/>
          <p:nvPr/>
        </p:nvSpPr>
        <p:spPr>
          <a:xfrm>
            <a:off x="6400800" y="1828800"/>
            <a:ext cx="5303520" cy="4389120"/>
          </a:xfrm>
          <a:prstGeom prst="rect">
            <a:avLst/>
          </a:prstGeom>
          <a:noFill/>
        </p:spPr>
        <p:txBody>
          <a:bodyPr wrap="square">
            <a:spAutoFit/>
          </a:bodyPr>
          <a:lstStyle/>
          <a:p>
            <a:pPr algn="l">
              <a:spcAft>
                <a:spcPts val="400"/>
              </a:spcAft>
            </a:pPr>
            <a:r>
              <a:rPr sz="1500" b="0">
                <a:solidFill>
                  <a:srgbClr val="40403E"/>
                </a:solidFill>
                <a:latin typeface="Calibri"/>
              </a:rPr>
              <a:t>• Leakage-controlled pipeline over all 70.4M raw rows (audit, global dedupe, conflict drop, E0-only scaler, transformed-duplicate exclusion)</a:t>
            </a:r>
          </a:p>
          <a:p>
            <a:pPr algn="l">
              <a:spcAft>
                <a:spcPts val="400"/>
              </a:spcAft>
            </a:pPr>
            <a:r>
              <a:rPr sz="1500" b="0">
                <a:solidFill>
                  <a:srgbClr val="40403E"/>
                </a:solidFill>
                <a:latin typeface="Calibri"/>
              </a:rPr>
              <a:t>• Validation gate + frozen E0 teacher + one repair attempt; rejected update -&gt; keep last accepted model</a:t>
            </a:r>
          </a:p>
          <a:p>
            <a:pPr algn="l">
              <a:spcAft>
                <a:spcPts val="400"/>
              </a:spcAft>
            </a:pPr>
            <a:r>
              <a:rPr sz="1500" b="0">
                <a:solidFill>
                  <a:srgbClr val="40403E"/>
                </a:solidFill>
                <a:latin typeface="Calibri"/>
              </a:rPr>
              <a:t>• Pre-registered poison sweep; post-hoc teacher relabelling (FU2) as the defence at 100% flips</a:t>
            </a:r>
          </a:p>
          <a:p>
            <a:pPr algn="l">
              <a:spcAft>
                <a:spcPts val="400"/>
              </a:spcAft>
            </a:pPr>
            <a:r>
              <a:rPr sz="1500" b="0">
                <a:solidFill>
                  <a:srgbClr val="40403E"/>
                </a:solidFill>
                <a:latin typeface="Calibri"/>
              </a:rPr>
              <a:t>• Honest limits: 12-label protocol fails; two pilots stopped; confidence loss invisible to the gate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lgn="l">
              <a:spcAft>
                <a:spcPts val="400"/>
              </a:spcAft>
            </a:pPr>
            <a:r>
              <a:rPr sz="2800" b="1">
                <a:solidFill>
                  <a:srgbClr val="0B0B0B"/>
                </a:solidFill>
                <a:latin typeface="Calibri"/>
              </a:rPr>
              <a:t>Audited dataset and preprocessing</a:t>
            </a:r>
          </a:p>
        </p:txBody>
      </p:sp>
      <p:sp>
        <p:nvSpPr>
          <p:cNvPr id="3" name="TextBox 2"/>
          <p:cNvSpPr txBox="1"/>
          <p:nvPr/>
        </p:nvSpPr>
        <p:spPr>
          <a:xfrm>
            <a:off x="10881360" y="6446520"/>
            <a:ext cx="1097280" cy="274320"/>
          </a:xfrm>
          <a:prstGeom prst="rect">
            <a:avLst/>
          </a:prstGeom>
          <a:noFill/>
        </p:spPr>
        <p:txBody>
          <a:bodyPr wrap="square">
            <a:spAutoFit/>
          </a:bodyPr>
          <a:lstStyle/>
          <a:p>
            <a:pPr algn="r">
              <a:spcAft>
                <a:spcPts val="400"/>
              </a:spcAft>
            </a:pPr>
            <a:r>
              <a:rPr sz="1000" b="0">
                <a:solidFill>
                  <a:srgbClr val="6E6D69"/>
                </a:solidFill>
                <a:latin typeface="Calibri"/>
              </a:rPr>
              <a:t>3 / 10</a:t>
            </a:r>
          </a:p>
        </p:txBody>
      </p:sp>
      <p:sp>
        <p:nvSpPr>
          <p:cNvPr id="4" name="TextBox 3"/>
          <p:cNvSpPr txBox="1"/>
          <p:nvPr/>
        </p:nvSpPr>
        <p:spPr>
          <a:xfrm>
            <a:off x="457200" y="6446520"/>
            <a:ext cx="8229600" cy="274320"/>
          </a:xfrm>
          <a:prstGeom prst="rect">
            <a:avLst/>
          </a:prstGeom>
          <a:noFill/>
        </p:spPr>
        <p:txBody>
          <a:bodyPr wrap="square">
            <a:spAutoFit/>
          </a:bodyPr>
          <a:lstStyle/>
          <a:p>
            <a:pPr algn="l">
              <a:spcAft>
                <a:spcPts val="400"/>
              </a:spcAft>
            </a:pPr>
            <a:r>
              <a:rPr sz="900" b="0">
                <a:solidFill>
                  <a:srgbClr val="6E6D69"/>
                </a:solidFill>
                <a:latin typeface="Calibri"/>
              </a:rPr>
              <a:t>Source: github.com/DevChi1l/cicddos2019-continual-nids (committed files; tables: docs/RESULT_TABLES.md)</a:t>
            </a:r>
          </a:p>
        </p:txBody>
      </p:sp>
      <p:sp>
        <p:nvSpPr>
          <p:cNvPr id="5" name="Rounded Rectangle 4"/>
          <p:cNvSpPr/>
          <p:nvPr/>
        </p:nvSpPr>
        <p:spPr>
          <a:xfrm>
            <a:off x="457200" y="1051560"/>
            <a:ext cx="795528" cy="292608"/>
          </a:xfrm>
          <a:prstGeom prst="roundRect">
            <a:avLst/>
          </a:prstGeom>
          <a:solidFill>
            <a:srgbClr val="40403E"/>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100" b="1">
                <a:solidFill>
                  <a:srgbClr val="FFFFFF"/>
                </a:solidFill>
              </a:rPr>
              <a:t>DATA</a:t>
            </a:r>
          </a:p>
        </p:txBody>
      </p:sp>
      <p:pic>
        <p:nvPicPr>
          <p:cNvPr id="6" name="Picture 5" descr="fig1_data_pipeline.png"/>
          <p:cNvPicPr>
            <a:picLocks noChangeAspect="1"/>
          </p:cNvPicPr>
          <p:nvPr/>
        </p:nvPicPr>
        <p:blipFill>
          <a:blip r:embed="rId3"/>
          <a:stretch>
            <a:fillRect/>
          </a:stretch>
        </p:blipFill>
        <p:spPr>
          <a:xfrm>
            <a:off x="365760" y="1417320"/>
            <a:ext cx="7680960" cy="3584448"/>
          </a:xfrm>
          <a:prstGeom prst="rect">
            <a:avLst/>
          </a:prstGeom>
        </p:spPr>
      </p:pic>
      <p:sp>
        <p:nvSpPr>
          <p:cNvPr id="7" name="TextBox 6"/>
          <p:cNvSpPr txBox="1"/>
          <p:nvPr/>
        </p:nvSpPr>
        <p:spPr>
          <a:xfrm>
            <a:off x="8229600" y="1371600"/>
            <a:ext cx="3749039" cy="4937760"/>
          </a:xfrm>
          <a:prstGeom prst="rect">
            <a:avLst/>
          </a:prstGeom>
          <a:noFill/>
        </p:spPr>
        <p:txBody>
          <a:bodyPr wrap="square">
            <a:spAutoFit/>
          </a:bodyPr>
          <a:lstStyle/>
          <a:p>
            <a:pPr algn="l">
              <a:spcAft>
                <a:spcPts val="400"/>
              </a:spcAft>
            </a:pPr>
            <a:r>
              <a:rPr sz="1300" b="1">
                <a:solidFill>
                  <a:srgbClr val="0B0B0B"/>
                </a:solidFill>
                <a:latin typeface="Calibri"/>
              </a:rPr>
              <a:t>• Audit: </a:t>
            </a:r>
            <a:r>
              <a:rPr sz="1300" b="0">
                <a:solidFill>
                  <a:srgbClr val="40403E"/>
                </a:solidFill>
                <a:latin typeface="Calibri"/>
              </a:rPr>
              <a:t>18 CSV files, 70,427,637 rows, 14 raw labels, 59,924,164 within-file duplicates</a:t>
            </a:r>
          </a:p>
          <a:p>
            <a:pPr algn="l">
              <a:spcAft>
                <a:spcPts val="400"/>
              </a:spcAft>
            </a:pPr>
            <a:r>
              <a:rPr sz="1300" b="1">
                <a:solidFill>
                  <a:srgbClr val="0B0B0B"/>
                </a:solidFill>
                <a:latin typeface="Calibri"/>
              </a:rPr>
              <a:t>• Order: </a:t>
            </a:r>
            <a:r>
              <a:rPr sz="1300" b="0">
                <a:solidFill>
                  <a:srgbClr val="40403E"/>
                </a:solidFill>
                <a:latin typeface="Calibri"/>
              </a:rPr>
              <a:t>label column (not filename) -&gt; drop ids, IPs, ports, timestamp, Inbound -&gt; drop non-finite -&gt; global dedupe on a feature hash -&gt; drop 235,261 label-conflict vectors -&gt; cap 60,000 distinct per attack -&gt; split 60/10/10/20</a:t>
            </a:r>
          </a:p>
          <a:p>
            <a:pPr algn="l">
              <a:spcAft>
                <a:spcPts val="400"/>
              </a:spcAft>
            </a:pPr>
            <a:r>
              <a:rPr sz="1300" b="1">
                <a:solidFill>
                  <a:srgbClr val="0B0B0B"/>
                </a:solidFill>
                <a:latin typeface="Calibri"/>
              </a:rPr>
              <a:t>• BENIGN: </a:t>
            </a:r>
            <a:r>
              <a:rPr sz="1300" b="0">
                <a:solidFill>
                  <a:srgbClr val="40403E"/>
                </a:solidFill>
                <a:latin typeface="Calibri"/>
              </a:rPr>
              <a:t>113,828 raw (0.16%) -&gt; 95,272 distinct kept, never capped</a:t>
            </a:r>
          </a:p>
          <a:p>
            <a:pPr algn="l">
              <a:spcAft>
                <a:spcPts val="400"/>
              </a:spcAft>
            </a:pPr>
            <a:r>
              <a:rPr sz="1300" b="1">
                <a:solidFill>
                  <a:srgbClr val="0B0B0B"/>
                </a:solidFill>
                <a:latin typeface="Calibri"/>
              </a:rPr>
              <a:t>• Inputs: </a:t>
            </a:r>
            <a:r>
              <a:rPr sz="1300" b="0">
                <a:solidFill>
                  <a:srgbClr val="40403E"/>
                </a:solidFill>
                <a:latin typeface="Calibri"/>
              </a:rPr>
              <a:t>77 numeric features + protocol</a:t>
            </a:r>
          </a:p>
          <a:p>
            <a:pPr algn="l">
              <a:spcAft>
                <a:spcPts val="400"/>
              </a:spcAft>
            </a:pPr>
            <a:r>
              <a:rPr sz="1300" b="1">
                <a:solidFill>
                  <a:srgbClr val="0B0B0B"/>
                </a:solidFill>
                <a:latin typeface="Calibri"/>
              </a:rPr>
              <a:t>• Trained on: </a:t>
            </a:r>
            <a:r>
              <a:rPr sz="1300" b="0">
                <a:solidFill>
                  <a:srgbClr val="40403E"/>
                </a:solidFill>
                <a:latin typeface="Calibri"/>
              </a:rPr>
              <a:t>capped subsets only (98,833 rows four-label; at most 159,595)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lgn="l">
              <a:spcAft>
                <a:spcPts val="400"/>
              </a:spcAft>
            </a:pPr>
            <a:r>
              <a:rPr sz="2800" b="1">
                <a:solidFill>
                  <a:srgbClr val="0B0B0B"/>
                </a:solidFill>
                <a:latin typeface="Calibri"/>
              </a:rPr>
              <a:t>How E0 / E1 / E2 are formed (four-label, CII)</a:t>
            </a:r>
          </a:p>
        </p:txBody>
      </p:sp>
      <p:sp>
        <p:nvSpPr>
          <p:cNvPr id="3" name="TextBox 2"/>
          <p:cNvSpPr txBox="1"/>
          <p:nvPr/>
        </p:nvSpPr>
        <p:spPr>
          <a:xfrm>
            <a:off x="10881360" y="6446520"/>
            <a:ext cx="1097280" cy="274320"/>
          </a:xfrm>
          <a:prstGeom prst="rect">
            <a:avLst/>
          </a:prstGeom>
          <a:noFill/>
        </p:spPr>
        <p:txBody>
          <a:bodyPr wrap="square">
            <a:spAutoFit/>
          </a:bodyPr>
          <a:lstStyle/>
          <a:p>
            <a:pPr algn="r">
              <a:spcAft>
                <a:spcPts val="400"/>
              </a:spcAft>
            </a:pPr>
            <a:r>
              <a:rPr sz="1000" b="0">
                <a:solidFill>
                  <a:srgbClr val="6E6D69"/>
                </a:solidFill>
                <a:latin typeface="Calibri"/>
              </a:rPr>
              <a:t>4 / 10</a:t>
            </a:r>
          </a:p>
        </p:txBody>
      </p:sp>
      <p:sp>
        <p:nvSpPr>
          <p:cNvPr id="4" name="TextBox 3"/>
          <p:cNvSpPr txBox="1"/>
          <p:nvPr/>
        </p:nvSpPr>
        <p:spPr>
          <a:xfrm>
            <a:off x="457200" y="6446520"/>
            <a:ext cx="8229600" cy="274320"/>
          </a:xfrm>
          <a:prstGeom prst="rect">
            <a:avLst/>
          </a:prstGeom>
          <a:noFill/>
        </p:spPr>
        <p:txBody>
          <a:bodyPr wrap="square">
            <a:spAutoFit/>
          </a:bodyPr>
          <a:lstStyle/>
          <a:p>
            <a:pPr algn="l">
              <a:spcAft>
                <a:spcPts val="400"/>
              </a:spcAft>
            </a:pPr>
            <a:r>
              <a:rPr sz="900" b="0">
                <a:solidFill>
                  <a:srgbClr val="6E6D69"/>
                </a:solidFill>
                <a:latin typeface="Calibri"/>
              </a:rPr>
              <a:t>Source: github.com/DevChi1l/cicddos2019-continual-nids (committed files; tables: docs/RESULT_TABLES.md)</a:t>
            </a:r>
          </a:p>
        </p:txBody>
      </p:sp>
      <p:graphicFrame>
        <p:nvGraphicFramePr>
          <p:cNvPr id="5" name="Table 4"/>
          <p:cNvGraphicFramePr>
            <a:graphicFrameLocks noGrp="1"/>
          </p:cNvGraphicFramePr>
          <p:nvPr/>
        </p:nvGraphicFramePr>
        <p:xfrm>
          <a:off x="457200" y="1280160"/>
          <a:ext cx="6949440" cy="1316736"/>
        </p:xfrm>
        <a:graphic>
          <a:graphicData uri="http://schemas.openxmlformats.org/drawingml/2006/table">
            <a:tbl>
              <a:tblPr firstRow="1" bandRow="1">
                <a:tableStyleId>{5C22544A-7EE6-4342-B048-85BDC9FD1C3A}</a:tableStyleId>
              </a:tblPr>
              <a:tblGrid>
                <a:gridCol w="1097280"/>
                <a:gridCol w="1097280"/>
                <a:gridCol w="1371600"/>
                <a:gridCol w="1737360"/>
                <a:gridCol w="1645920"/>
              </a:tblGrid>
              <a:tr h="329184">
                <a:tc>
                  <a:txBody>
                    <a:bodyPr/>
                    <a:lstStyle/>
                    <a:p>
                      <a:r>
                        <a:rPr sz="1400" b="1">
                          <a:solidFill>
                            <a:srgbClr val="0B0B0B"/>
                          </a:solidFill>
                        </a:rPr>
                        <a:t>experience</a:t>
                      </a:r>
                    </a:p>
                  </a:txBody>
                  <a:tcPr>
                    <a:solidFill>
                      <a:srgbClr val="F3F2EE"/>
                    </a:solidFill>
                  </a:tcPr>
                </a:tc>
                <a:tc>
                  <a:txBody>
                    <a:bodyPr/>
                    <a:lstStyle/>
                    <a:p>
                      <a:r>
                        <a:rPr sz="1400" b="1">
                          <a:solidFill>
                            <a:srgbClr val="0B0B0B"/>
                          </a:solidFill>
                        </a:rPr>
                        <a:t>new class</a:t>
                      </a:r>
                    </a:p>
                  </a:txBody>
                  <a:tcPr>
                    <a:solidFill>
                      <a:srgbClr val="F3F2EE"/>
                    </a:solidFill>
                  </a:tcPr>
                </a:tc>
                <a:tc>
                  <a:txBody>
                    <a:bodyPr/>
                    <a:lstStyle/>
                    <a:p>
                      <a:r>
                        <a:rPr sz="1400" b="1">
                          <a:solidFill>
                            <a:srgbClr val="0B0B0B"/>
                          </a:solidFill>
                        </a:rPr>
                        <a:t>attack rows</a:t>
                      </a:r>
                    </a:p>
                  </a:txBody>
                  <a:tcPr>
                    <a:solidFill>
                      <a:srgbClr val="F3F2EE"/>
                    </a:solidFill>
                  </a:tcPr>
                </a:tc>
                <a:tc>
                  <a:txBody>
                    <a:bodyPr/>
                    <a:lstStyle/>
                    <a:p>
                      <a:r>
                        <a:rPr sz="1400" b="1">
                          <a:solidFill>
                            <a:srgbClr val="0B0B0B"/>
                          </a:solidFill>
                        </a:rPr>
                        <a:t>fresh BENIGN rows</a:t>
                      </a:r>
                    </a:p>
                  </a:txBody>
                  <a:tcPr>
                    <a:solidFill>
                      <a:srgbClr val="F3F2EE"/>
                    </a:solidFill>
                  </a:tcPr>
                </a:tc>
                <a:tc>
                  <a:txBody>
                    <a:bodyPr/>
                    <a:lstStyle/>
                    <a:p>
                      <a:r>
                        <a:rPr sz="1400" b="1">
                          <a:solidFill>
                            <a:srgbClr val="0B0B0B"/>
                          </a:solidFill>
                        </a:rPr>
                        <a:t>model after it</a:t>
                      </a:r>
                    </a:p>
                  </a:txBody>
                  <a:tcPr>
                    <a:solidFill>
                      <a:srgbClr val="F3F2EE"/>
                    </a:solidFill>
                  </a:tcPr>
                </a:tc>
              </a:tr>
              <a:tr h="329184">
                <a:tc>
                  <a:txBody>
                    <a:bodyPr/>
                    <a:lstStyle/>
                    <a:p>
                      <a:r>
                        <a:rPr sz="1400" b="0">
                          <a:solidFill>
                            <a:srgbClr val="0B0B0B"/>
                          </a:solidFill>
                        </a:rPr>
                        <a:t>E0</a:t>
                      </a:r>
                    </a:p>
                  </a:txBody>
                  <a:tcPr>
                    <a:solidFill>
                      <a:srgbClr val="FFFFFF"/>
                    </a:solidFill>
                  </a:tcPr>
                </a:tc>
                <a:tc>
                  <a:txBody>
                    <a:bodyPr/>
                    <a:lstStyle/>
                    <a:p>
                      <a:r>
                        <a:rPr sz="1400" b="0">
                          <a:solidFill>
                            <a:srgbClr val="0B0B0B"/>
                          </a:solidFill>
                        </a:rPr>
                        <a:t>Syn</a:t>
                      </a:r>
                    </a:p>
                  </a:txBody>
                  <a:tcPr>
                    <a:solidFill>
                      <a:srgbClr val="FFFFFF"/>
                    </a:solidFill>
                  </a:tcPr>
                </a:tc>
                <a:tc>
                  <a:txBody>
                    <a:bodyPr/>
                    <a:lstStyle/>
                    <a:p>
                      <a:r>
                        <a:rPr sz="1400" b="0">
                          <a:solidFill>
                            <a:srgbClr val="0B0B0B"/>
                          </a:solidFill>
                        </a:rPr>
                        <a:t>13,890</a:t>
                      </a:r>
                    </a:p>
                  </a:txBody>
                  <a:tcPr>
                    <a:solidFill>
                      <a:srgbClr val="FFFFFF"/>
                    </a:solidFill>
                  </a:tcPr>
                </a:tc>
                <a:tc>
                  <a:txBody>
                    <a:bodyPr/>
                    <a:lstStyle/>
                    <a:p>
                      <a:r>
                        <a:rPr sz="1400" b="0">
                          <a:solidFill>
                            <a:srgbClr val="0B0B0B"/>
                          </a:solidFill>
                        </a:rPr>
                        <a:t>19,055</a:t>
                      </a:r>
                    </a:p>
                  </a:txBody>
                  <a:tcPr>
                    <a:solidFill>
                      <a:srgbClr val="FFFFFF"/>
                    </a:solidFill>
                  </a:tcPr>
                </a:tc>
                <a:tc>
                  <a:txBody>
                    <a:bodyPr/>
                    <a:lstStyle/>
                    <a:p>
                      <a:r>
                        <a:rPr sz="1400" b="0">
                          <a:solidFill>
                            <a:srgbClr val="0B0B0B"/>
                          </a:solidFill>
                        </a:rPr>
                        <a:t>T (frozen) and A0</a:t>
                      </a:r>
                    </a:p>
                  </a:txBody>
                  <a:tcPr>
                    <a:solidFill>
                      <a:srgbClr val="FFFFFF"/>
                    </a:solidFill>
                  </a:tcPr>
                </a:tc>
              </a:tr>
              <a:tr h="329184">
                <a:tc>
                  <a:txBody>
                    <a:bodyPr/>
                    <a:lstStyle/>
                    <a:p>
                      <a:r>
                        <a:rPr sz="1400" b="0">
                          <a:solidFill>
                            <a:srgbClr val="0B0B0B"/>
                          </a:solidFill>
                        </a:rPr>
                        <a:t>E1</a:t>
                      </a:r>
                    </a:p>
                  </a:txBody>
                  <a:tcPr>
                    <a:solidFill>
                      <a:srgbClr val="FFFFFF"/>
                    </a:solidFill>
                  </a:tcPr>
                </a:tc>
                <a:tc>
                  <a:txBody>
                    <a:bodyPr/>
                    <a:lstStyle/>
                    <a:p>
                      <a:r>
                        <a:rPr sz="1400" b="0">
                          <a:solidFill>
                            <a:srgbClr val="0B0B0B"/>
                          </a:solidFill>
                        </a:rPr>
                        <a:t>LDAP</a:t>
                      </a:r>
                    </a:p>
                  </a:txBody>
                  <a:tcPr>
                    <a:solidFill>
                      <a:srgbClr val="FFFFFF"/>
                    </a:solidFill>
                  </a:tcPr>
                </a:tc>
                <a:tc>
                  <a:txBody>
                    <a:bodyPr/>
                    <a:lstStyle/>
                    <a:p>
                      <a:r>
                        <a:rPr sz="1400" b="0">
                          <a:solidFill>
                            <a:srgbClr val="0B0B0B"/>
                          </a:solidFill>
                        </a:rPr>
                        <a:t>13,890</a:t>
                      </a:r>
                    </a:p>
                  </a:txBody>
                  <a:tcPr>
                    <a:solidFill>
                      <a:srgbClr val="FFFFFF"/>
                    </a:solidFill>
                  </a:tcPr>
                </a:tc>
                <a:tc>
                  <a:txBody>
                    <a:bodyPr/>
                    <a:lstStyle/>
                    <a:p>
                      <a:r>
                        <a:rPr sz="1400" b="0">
                          <a:solidFill>
                            <a:srgbClr val="0B0B0B"/>
                          </a:solidFill>
                        </a:rPr>
                        <a:t>19,054</a:t>
                      </a:r>
                    </a:p>
                  </a:txBody>
                  <a:tcPr>
                    <a:solidFill>
                      <a:srgbClr val="FFFFFF"/>
                    </a:solidFill>
                  </a:tcPr>
                </a:tc>
                <a:tc>
                  <a:txBody>
                    <a:bodyPr/>
                    <a:lstStyle/>
                    <a:p>
                      <a:r>
                        <a:rPr sz="1400" b="0">
                          <a:solidFill>
                            <a:srgbClr val="0B0B0B"/>
                          </a:solidFill>
                        </a:rPr>
                        <a:t>A1 (if accepted)</a:t>
                      </a:r>
                    </a:p>
                  </a:txBody>
                  <a:tcPr>
                    <a:solidFill>
                      <a:srgbClr val="FFFFFF"/>
                    </a:solidFill>
                  </a:tcPr>
                </a:tc>
              </a:tr>
              <a:tr h="329184">
                <a:tc>
                  <a:txBody>
                    <a:bodyPr/>
                    <a:lstStyle/>
                    <a:p>
                      <a:r>
                        <a:rPr sz="1400" b="0">
                          <a:solidFill>
                            <a:srgbClr val="0B0B0B"/>
                          </a:solidFill>
                        </a:rPr>
                        <a:t>E2</a:t>
                      </a:r>
                    </a:p>
                  </a:txBody>
                  <a:tcPr>
                    <a:solidFill>
                      <a:srgbClr val="FFFFFF"/>
                    </a:solidFill>
                  </a:tcPr>
                </a:tc>
                <a:tc>
                  <a:txBody>
                    <a:bodyPr/>
                    <a:lstStyle/>
                    <a:p>
                      <a:r>
                        <a:rPr sz="1400" b="0">
                          <a:solidFill>
                            <a:srgbClr val="0B0B0B"/>
                          </a:solidFill>
                        </a:rPr>
                        <a:t>UDP</a:t>
                      </a:r>
                    </a:p>
                  </a:txBody>
                  <a:tcPr>
                    <a:solidFill>
                      <a:srgbClr val="FFFFFF"/>
                    </a:solidFill>
                  </a:tcPr>
                </a:tc>
                <a:tc>
                  <a:txBody>
                    <a:bodyPr/>
                    <a:lstStyle/>
                    <a:p>
                      <a:r>
                        <a:rPr sz="1400" b="0">
                          <a:solidFill>
                            <a:srgbClr val="0B0B0B"/>
                          </a:solidFill>
                        </a:rPr>
                        <a:t>13,890</a:t>
                      </a:r>
                    </a:p>
                  </a:txBody>
                  <a:tcPr>
                    <a:solidFill>
                      <a:srgbClr val="FFFFFF"/>
                    </a:solidFill>
                  </a:tcPr>
                </a:tc>
                <a:tc>
                  <a:txBody>
                    <a:bodyPr/>
                    <a:lstStyle/>
                    <a:p>
                      <a:r>
                        <a:rPr sz="1400" b="0">
                          <a:solidFill>
                            <a:srgbClr val="0B0B0B"/>
                          </a:solidFill>
                        </a:rPr>
                        <a:t>19,054</a:t>
                      </a:r>
                    </a:p>
                  </a:txBody>
                  <a:tcPr>
                    <a:solidFill>
                      <a:srgbClr val="FFFFFF"/>
                    </a:solidFill>
                  </a:tcPr>
                </a:tc>
                <a:tc>
                  <a:txBody>
                    <a:bodyPr/>
                    <a:lstStyle/>
                    <a:p>
                      <a:r>
                        <a:rPr sz="1400" b="0">
                          <a:solidFill>
                            <a:srgbClr val="0B0B0B"/>
                          </a:solidFill>
                        </a:rPr>
                        <a:t>A2 (if accepted)</a:t>
                      </a:r>
                    </a:p>
                  </a:txBody>
                  <a:tcPr>
                    <a:solidFill>
                      <a:srgbClr val="FFFFFF"/>
                    </a:solidFill>
                  </a:tcPr>
                </a:tc>
              </a:tr>
            </a:tbl>
          </a:graphicData>
        </a:graphic>
      </p:graphicFrame>
      <p:sp>
        <p:nvSpPr>
          <p:cNvPr id="6" name="TextBox 5"/>
          <p:cNvSpPr txBox="1"/>
          <p:nvPr/>
        </p:nvSpPr>
        <p:spPr>
          <a:xfrm>
            <a:off x="457200" y="2926080"/>
            <a:ext cx="6949440" cy="3291840"/>
          </a:xfrm>
          <a:prstGeom prst="rect">
            <a:avLst/>
          </a:prstGeom>
          <a:noFill/>
        </p:spPr>
        <p:txBody>
          <a:bodyPr wrap="square">
            <a:spAutoFit/>
          </a:bodyPr>
          <a:lstStyle/>
          <a:p>
            <a:pPr algn="l">
              <a:spcAft>
                <a:spcPts val="400"/>
              </a:spcAft>
            </a:pPr>
            <a:r>
              <a:rPr sz="1400" b="1">
                <a:solidFill>
                  <a:srgbClr val="0B0B0B"/>
                </a:solidFill>
                <a:latin typeface="Calibri"/>
              </a:rPr>
              <a:t>• Splits fixed first: </a:t>
            </a:r>
            <a:r>
              <a:rPr sz="1400" b="0">
                <a:solidFill>
                  <a:srgbClr val="40403E"/>
                </a:solidFill>
                <a:latin typeface="Calibri"/>
              </a:rPr>
              <a:t>validation 23,263 rows, held-out test 46,527 rows (19,028 benign); never used for training</a:t>
            </a:r>
          </a:p>
          <a:p>
            <a:pPr algn="l">
              <a:spcAft>
                <a:spcPts val="400"/>
              </a:spcAft>
            </a:pPr>
            <a:r>
              <a:rPr sz="1400" b="1">
                <a:solidFill>
                  <a:srgbClr val="0B0B0B"/>
                </a:solidFill>
                <a:latin typeface="Calibri"/>
              </a:rPr>
              <a:t>• Scaler: </a:t>
            </a:r>
            <a:r>
              <a:rPr sz="1400" b="0">
                <a:solidFill>
                  <a:srgbClr val="40403E"/>
                </a:solidFill>
                <a:latin typeface="Calibri"/>
              </a:rPr>
              <a:t>signed log1p -&gt; standardise -&gt; clip ±5, fitted on E0 training rows only, then frozen</a:t>
            </a:r>
          </a:p>
          <a:p>
            <a:pPr algn="l">
              <a:spcAft>
                <a:spcPts val="400"/>
              </a:spcAft>
            </a:pPr>
            <a:r>
              <a:rPr sz="1400" b="1">
                <a:solidFill>
                  <a:srgbClr val="0B0B0B"/>
                </a:solidFill>
                <a:latin typeface="Calibri"/>
              </a:rPr>
              <a:t>• Leakage guard: </a:t>
            </a:r>
            <a:r>
              <a:rPr sz="1400" b="0">
                <a:solidFill>
                  <a:srgbClr val="40403E"/>
                </a:solidFill>
                <a:latin typeface="Calibri"/>
              </a:rPr>
              <a:t>166 protected rows excluded because their scaled input equals a training input (residual 0)</a:t>
            </a:r>
          </a:p>
          <a:p>
            <a:pPr algn="l">
              <a:spcAft>
                <a:spcPts val="400"/>
              </a:spcAft>
            </a:pPr>
            <a:r>
              <a:rPr sz="1400" b="1">
                <a:solidFill>
                  <a:srgbClr val="0B0B0B"/>
                </a:solidFill>
                <a:latin typeface="Calibri"/>
              </a:rPr>
              <a:t>• Replay buffer: </a:t>
            </a:r>
            <a:r>
              <a:rPr sz="1400" b="0">
                <a:solidFill>
                  <a:srgbClr val="40403E"/>
                </a:solidFill>
                <a:latin typeface="Calibri"/>
              </a:rPr>
              <a:t>2,000 rows per class per ACCEPTED experience, true label stored; a rejected experience adds nothing</a:t>
            </a:r>
          </a:p>
        </p:txBody>
      </p:sp>
      <p:sp>
        <p:nvSpPr>
          <p:cNvPr id="7" name="Rounded Rectangle 6"/>
          <p:cNvSpPr/>
          <p:nvPr/>
        </p:nvSpPr>
        <p:spPr>
          <a:xfrm>
            <a:off x="7772400" y="1280160"/>
            <a:ext cx="3931920" cy="4846320"/>
          </a:xfrm>
          <a:prstGeom prst="roundRect">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0B0B0B"/>
                </a:solidFill>
              </a:rPr>
              <a:t>Attack cap = 13,890</a:t>
            </a:r>
          </a:p>
          <a:p>
            <a:pPr algn="ctr"/>
            <a:r>
              <a:rPr sz="1400" b="0">
                <a:solidFill>
                  <a:srgbClr val="0B0B0B"/>
                </a:solidFill>
              </a:rPr>
              <a:t>= LDAP's whole cleaned training count, so every attack class contributes equally</a:t>
            </a:r>
          </a:p>
          <a:p>
            <a:pPr algn="ctr"/>
            <a:r>
              <a:rPr sz="1400" b="0">
                <a:solidFill>
                  <a:srgbClr val="0B0B0B"/>
                </a:solidFill>
              </a:rPr>
              <a:t/>
            </a:r>
          </a:p>
          <a:p>
            <a:pPr algn="ctr"/>
            <a:r>
              <a:rPr sz="1400" b="0">
                <a:solidFill>
                  <a:srgbClr val="0B0B0B"/>
                </a:solidFill>
              </a:rPr>
              <a:t>Same Stage 1 splits feed every experiment (sha256 bb1f5acb…)</a:t>
            </a:r>
          </a:p>
          <a:p>
            <a:pPr algn="ctr"/>
            <a:r>
              <a:rPr sz="1400" b="0">
                <a:solidFill>
                  <a:srgbClr val="0B0B0B"/>
                </a:solidFill>
              </a:rPr>
              <a:t/>
            </a:r>
          </a:p>
          <a:p>
            <a:pPr algn="ctr"/>
            <a:r>
              <a:rPr sz="1400" b="0">
                <a:solidFill>
                  <a:srgbClr val="0B0B0B"/>
                </a:solidFill>
              </a:rPr>
              <a:t>12-label runs: 9,312 per class, two classes per update; RF: fixed 3 classes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lgn="l">
              <a:spcAft>
                <a:spcPts val="400"/>
              </a:spcAft>
            </a:pPr>
            <a:r>
              <a:rPr sz="2800" b="1">
                <a:solidFill>
                  <a:srgbClr val="0B0B0B"/>
                </a:solidFill>
                <a:latin typeface="Calibri"/>
              </a:rPr>
              <a:t>Model: FT-Transformer-style feature-token Transformer</a:t>
            </a:r>
          </a:p>
        </p:txBody>
      </p:sp>
      <p:sp>
        <p:nvSpPr>
          <p:cNvPr id="3" name="TextBox 2"/>
          <p:cNvSpPr txBox="1"/>
          <p:nvPr/>
        </p:nvSpPr>
        <p:spPr>
          <a:xfrm>
            <a:off x="10881360" y="6446520"/>
            <a:ext cx="1097280" cy="274320"/>
          </a:xfrm>
          <a:prstGeom prst="rect">
            <a:avLst/>
          </a:prstGeom>
          <a:noFill/>
        </p:spPr>
        <p:txBody>
          <a:bodyPr wrap="square">
            <a:spAutoFit/>
          </a:bodyPr>
          <a:lstStyle/>
          <a:p>
            <a:pPr algn="r">
              <a:spcAft>
                <a:spcPts val="400"/>
              </a:spcAft>
            </a:pPr>
            <a:r>
              <a:rPr sz="1000" b="0">
                <a:solidFill>
                  <a:srgbClr val="6E6D69"/>
                </a:solidFill>
                <a:latin typeface="Calibri"/>
              </a:rPr>
              <a:t>5 / 10</a:t>
            </a:r>
          </a:p>
        </p:txBody>
      </p:sp>
      <p:sp>
        <p:nvSpPr>
          <p:cNvPr id="4" name="TextBox 3"/>
          <p:cNvSpPr txBox="1"/>
          <p:nvPr/>
        </p:nvSpPr>
        <p:spPr>
          <a:xfrm>
            <a:off x="457200" y="6446520"/>
            <a:ext cx="8229600" cy="274320"/>
          </a:xfrm>
          <a:prstGeom prst="rect">
            <a:avLst/>
          </a:prstGeom>
          <a:noFill/>
        </p:spPr>
        <p:txBody>
          <a:bodyPr wrap="square">
            <a:spAutoFit/>
          </a:bodyPr>
          <a:lstStyle/>
          <a:p>
            <a:pPr algn="l">
              <a:spcAft>
                <a:spcPts val="400"/>
              </a:spcAft>
            </a:pPr>
            <a:r>
              <a:rPr sz="900" b="0">
                <a:solidFill>
                  <a:srgbClr val="6E6D69"/>
                </a:solidFill>
                <a:latin typeface="Calibri"/>
              </a:rPr>
              <a:t>Source: github.com/DevChi1l/cicddos2019-continual-nids (committed files; tables: docs/RESULT_TABLES.md)</a:t>
            </a:r>
          </a:p>
        </p:txBody>
      </p:sp>
      <p:sp>
        <p:nvSpPr>
          <p:cNvPr id="5" name="Rounded Rectangle 4"/>
          <p:cNvSpPr/>
          <p:nvPr/>
        </p:nvSpPr>
        <p:spPr>
          <a:xfrm>
            <a:off x="365760" y="1828800"/>
            <a:ext cx="2011680" cy="1188720"/>
          </a:xfrm>
          <a:prstGeom prst="roundRect">
            <a:avLst/>
          </a:prstGeom>
          <a:solidFill>
            <a:srgbClr val="E8F1F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0">
                <a:solidFill>
                  <a:srgbClr val="0B0B0B"/>
                </a:solidFill>
              </a:rPr>
              <a:t>one flow</a:t>
            </a:r>
          </a:p>
          <a:p>
            <a:pPr algn="ctr"/>
            <a:r>
              <a:rPr sz="1300" b="0">
                <a:solidFill>
                  <a:srgbClr val="0B0B0B"/>
                </a:solidFill>
              </a:rPr>
              <a:t>77 scaled numbers</a:t>
            </a:r>
          </a:p>
          <a:p>
            <a:pPr algn="ctr"/>
            <a:r>
              <a:rPr sz="1300" b="0">
                <a:solidFill>
                  <a:srgbClr val="0B0B0B"/>
                </a:solidFill>
              </a:rPr>
              <a:t>+ protocol (0/6/17)</a:t>
            </a:r>
          </a:p>
        </p:txBody>
      </p:sp>
      <p:cxnSp>
        <p:nvCxnSpPr>
          <p:cNvPr id="6" name="Connector 5"/>
          <p:cNvCxnSpPr/>
          <p:nvPr/>
        </p:nvCxnSpPr>
        <p:spPr>
          <a:xfrm>
            <a:off x="2377440" y="2423160"/>
            <a:ext cx="457200" cy="0"/>
          </a:xfrm>
          <a:prstGeom prst="line">
            <a:avLst/>
          </a:prstGeom>
          <a:ln w="22225">
            <a:solidFill>
              <a:srgbClr val="40403E"/>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834640" y="1554480"/>
            <a:ext cx="2377440" cy="1737360"/>
          </a:xfrm>
          <a:prstGeom prst="roundRect">
            <a:avLst/>
          </a:prstGeom>
          <a:solidFill>
            <a:srgbClr val="E8F1F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0B0B0B"/>
                </a:solidFill>
              </a:rPr>
              <a:t>Feature tokenizer</a:t>
            </a:r>
          </a:p>
          <a:p>
            <a:pPr algn="ctr"/>
            <a:r>
              <a:rPr sz="1200" b="0">
                <a:solidFill>
                  <a:srgbClr val="0B0B0B"/>
                </a:solidFill>
              </a:rPr>
              <a:t>z_j = x_j·W_j + b_j  (77 tokens)</a:t>
            </a:r>
          </a:p>
          <a:p>
            <a:pPr algn="ctr"/>
            <a:r>
              <a:rPr sz="1200" b="0">
                <a:solidFill>
                  <a:srgbClr val="0B0B0B"/>
                </a:solidFill>
              </a:rPr>
              <a:t>protocol embedding (1)</a:t>
            </a:r>
          </a:p>
          <a:p>
            <a:pPr algn="ctr"/>
            <a:r>
              <a:rPr sz="1200" b="0">
                <a:solidFill>
                  <a:srgbClr val="0B0B0B"/>
                </a:solidFill>
              </a:rPr>
              <a:t>[CLS] first (1)</a:t>
            </a:r>
          </a:p>
          <a:p>
            <a:pPr algn="ctr"/>
            <a:r>
              <a:rPr sz="1200" b="0">
                <a:solidFill>
                  <a:srgbClr val="0B0B0B"/>
                </a:solidFill>
              </a:rPr>
              <a:t>-&gt; (N, 79, 32)</a:t>
            </a:r>
          </a:p>
        </p:txBody>
      </p:sp>
      <p:cxnSp>
        <p:nvCxnSpPr>
          <p:cNvPr id="8" name="Connector 7"/>
          <p:cNvCxnSpPr/>
          <p:nvPr/>
        </p:nvCxnSpPr>
        <p:spPr>
          <a:xfrm>
            <a:off x="5212080" y="2423160"/>
            <a:ext cx="457200" cy="0"/>
          </a:xfrm>
          <a:prstGeom prst="line">
            <a:avLst/>
          </a:prstGeom>
          <a:ln w="22225">
            <a:solidFill>
              <a:srgbClr val="40403E"/>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669280" y="1554480"/>
            <a:ext cx="2560320" cy="1737360"/>
          </a:xfrm>
          <a:prstGeom prst="roundRect">
            <a:avLst/>
          </a:prstGeom>
          <a:solidFill>
            <a:srgbClr val="E8F1F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0B0B0B"/>
                </a:solidFill>
              </a:rPr>
              <a:t>3 × PreNorm encoder layer</a:t>
            </a:r>
          </a:p>
          <a:p>
            <a:pPr algn="ctr"/>
            <a:r>
              <a:rPr sz="1200" b="0">
                <a:solidFill>
                  <a:srgbClr val="0B0B0B"/>
                </a:solidFill>
              </a:rPr>
              <a:t>self-attention: 4 heads × 8 dims</a:t>
            </a:r>
          </a:p>
          <a:p>
            <a:pPr algn="ctr"/>
            <a:r>
              <a:rPr sz="1200" b="0">
                <a:solidFill>
                  <a:srgbClr val="0B0B0B"/>
                </a:solidFill>
              </a:rPr>
              <a:t>softmax(QKᵀ/√8)·V over 79 tokens</a:t>
            </a:r>
          </a:p>
          <a:p>
            <a:pPr algn="ctr"/>
            <a:r>
              <a:rPr sz="1200" b="0">
                <a:solidFill>
                  <a:srgbClr val="0B0B0B"/>
                </a:solidFill>
              </a:rPr>
              <a:t>FFN 32 -&gt; 128 -&gt; 32, GELU</a:t>
            </a:r>
          </a:p>
        </p:txBody>
      </p:sp>
      <p:cxnSp>
        <p:nvCxnSpPr>
          <p:cNvPr id="10" name="Connector 9"/>
          <p:cNvCxnSpPr/>
          <p:nvPr/>
        </p:nvCxnSpPr>
        <p:spPr>
          <a:xfrm>
            <a:off x="8229600" y="2423160"/>
            <a:ext cx="457200" cy="0"/>
          </a:xfrm>
          <a:prstGeom prst="line">
            <a:avLst/>
          </a:prstGeom>
          <a:ln w="22225">
            <a:solidFill>
              <a:srgbClr val="40403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686800" y="1828800"/>
            <a:ext cx="3017520" cy="1188720"/>
          </a:xfrm>
          <a:prstGeom prst="roundRect">
            <a:avLst/>
          </a:prstGeom>
          <a:solidFill>
            <a:srgbClr val="E8F1F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0B0B0B"/>
                </a:solidFill>
              </a:rPr>
              <a:t>[CLS] -&gt; LayerNorm -&gt; Linear(32, K)</a:t>
            </a:r>
          </a:p>
          <a:p>
            <a:pPr algn="ctr"/>
            <a:r>
              <a:rPr sz="1200" b="0">
                <a:solidFill>
                  <a:srgbClr val="0B0B0B"/>
                </a:solidFill>
              </a:rPr>
              <a:t>logits for the classes seen so far</a:t>
            </a:r>
          </a:p>
        </p:txBody>
      </p:sp>
      <p:sp>
        <p:nvSpPr>
          <p:cNvPr id="12" name="TextBox 11"/>
          <p:cNvSpPr txBox="1"/>
          <p:nvPr/>
        </p:nvSpPr>
        <p:spPr>
          <a:xfrm>
            <a:off x="457200" y="3749039"/>
            <a:ext cx="11247120" cy="2560320"/>
          </a:xfrm>
          <a:prstGeom prst="rect">
            <a:avLst/>
          </a:prstGeom>
          <a:noFill/>
        </p:spPr>
        <p:txBody>
          <a:bodyPr wrap="square">
            <a:spAutoFit/>
          </a:bodyPr>
          <a:lstStyle/>
          <a:p>
            <a:pPr algn="l">
              <a:spcAft>
                <a:spcPts val="400"/>
              </a:spcAft>
            </a:pPr>
            <a:r>
              <a:rPr sz="1400" b="1">
                <a:solidFill>
                  <a:srgbClr val="0B0B0B"/>
                </a:solidFill>
                <a:latin typeface="Calibri"/>
              </a:rPr>
              <a:t>• Size: </a:t>
            </a:r>
            <a:r>
              <a:rPr sz="1400" b="0">
                <a:solidFill>
                  <a:srgbClr val="40403E"/>
                </a:solidFill>
                <a:latin typeface="Calibri"/>
              </a:rPr>
              <a:t>d = 32; 43,396 parameters with 4 classes (43,660 with 12)</a:t>
            </a:r>
          </a:p>
          <a:p>
            <a:pPr algn="l">
              <a:spcAft>
                <a:spcPts val="400"/>
              </a:spcAft>
            </a:pPr>
            <a:r>
              <a:rPr sz="1400" b="1">
                <a:solidFill>
                  <a:srgbClr val="0B0B0B"/>
                </a:solidFill>
                <a:latin typeface="Calibri"/>
              </a:rPr>
              <a:t>• New classes: </a:t>
            </a:r>
            <a:r>
              <a:rPr sz="1400" b="0">
                <a:solidFill>
                  <a:srgbClr val="40403E"/>
                </a:solidFill>
                <a:latin typeface="Calibri"/>
              </a:rPr>
              <a:t>the head grows; old output rows are copied, so old logits are unchanged before training</a:t>
            </a:r>
          </a:p>
          <a:p>
            <a:pPr algn="l">
              <a:spcAft>
                <a:spcPts val="400"/>
              </a:spcAft>
            </a:pPr>
            <a:r>
              <a:rPr sz="1400" b="1">
                <a:solidFill>
                  <a:srgbClr val="0B0B0B"/>
                </a:solidFill>
                <a:latin typeface="Calibri"/>
              </a:rPr>
              <a:t>• Loss: </a:t>
            </a:r>
            <a:r>
              <a:rPr sz="1400" b="0">
                <a:solidFill>
                  <a:srgbClr val="40403E"/>
                </a:solidFill>
                <a:latin typeface="Calibri"/>
              </a:rPr>
              <a:t>class-weighted cross-entropy, c_k = sqrt(N / (K·n_k)), × a per-row weight (used only by repair); AdamW, 10 epochs for E0, 5 per update</a:t>
            </a:r>
          </a:p>
          <a:p>
            <a:pPr algn="l">
              <a:spcAft>
                <a:spcPts val="400"/>
              </a:spcAft>
            </a:pPr>
            <a:r>
              <a:rPr sz="1400" b="1">
                <a:solidFill>
                  <a:srgbClr val="0B0B0B"/>
                </a:solidFill>
                <a:latin typeface="Calibri"/>
              </a:rPr>
              <a:t>• Closest published design: </a:t>
            </a:r>
            <a:r>
              <a:rPr sz="1400" b="0">
                <a:solidFill>
                  <a:srgbClr val="40403E"/>
                </a:solidFill>
                <a:latin typeface="Calibri"/>
              </a:rPr>
              <a:t>FT-Transformer's feature tokenizer + [CLS] + PreNorm (smaller; GELU not ReGLU). Not the original TabTransformer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lgn="l">
              <a:spcAft>
                <a:spcPts val="400"/>
              </a:spcAft>
            </a:pPr>
            <a:r>
              <a:rPr sz="2800" b="1">
                <a:solidFill>
                  <a:srgbClr val="0B0B0B"/>
                </a:solidFill>
                <a:latin typeface="Calibri"/>
              </a:rPr>
              <a:t>Replay poisoning and the defended update protocol</a:t>
            </a:r>
          </a:p>
        </p:txBody>
      </p:sp>
      <p:sp>
        <p:nvSpPr>
          <p:cNvPr id="3" name="TextBox 2"/>
          <p:cNvSpPr txBox="1"/>
          <p:nvPr/>
        </p:nvSpPr>
        <p:spPr>
          <a:xfrm>
            <a:off x="10881360" y="6446520"/>
            <a:ext cx="1097280" cy="274320"/>
          </a:xfrm>
          <a:prstGeom prst="rect">
            <a:avLst/>
          </a:prstGeom>
          <a:noFill/>
        </p:spPr>
        <p:txBody>
          <a:bodyPr wrap="square">
            <a:spAutoFit/>
          </a:bodyPr>
          <a:lstStyle/>
          <a:p>
            <a:pPr algn="r">
              <a:spcAft>
                <a:spcPts val="400"/>
              </a:spcAft>
            </a:pPr>
            <a:r>
              <a:rPr sz="1000" b="0">
                <a:solidFill>
                  <a:srgbClr val="6E6D69"/>
                </a:solidFill>
                <a:latin typeface="Calibri"/>
              </a:rPr>
              <a:t>6 / 10</a:t>
            </a:r>
          </a:p>
        </p:txBody>
      </p:sp>
      <p:sp>
        <p:nvSpPr>
          <p:cNvPr id="4" name="TextBox 3"/>
          <p:cNvSpPr txBox="1"/>
          <p:nvPr/>
        </p:nvSpPr>
        <p:spPr>
          <a:xfrm>
            <a:off x="457200" y="6446520"/>
            <a:ext cx="8229600" cy="274320"/>
          </a:xfrm>
          <a:prstGeom prst="rect">
            <a:avLst/>
          </a:prstGeom>
          <a:noFill/>
        </p:spPr>
        <p:txBody>
          <a:bodyPr wrap="square">
            <a:spAutoFit/>
          </a:bodyPr>
          <a:lstStyle/>
          <a:p>
            <a:pPr algn="l">
              <a:spcAft>
                <a:spcPts val="400"/>
              </a:spcAft>
            </a:pPr>
            <a:r>
              <a:rPr sz="900" b="0">
                <a:solidFill>
                  <a:srgbClr val="6E6D69"/>
                </a:solidFill>
                <a:latin typeface="Calibri"/>
              </a:rPr>
              <a:t>Source: github.com/DevChi1l/cicddos2019-continual-nids (committed files; tables: docs/RESULT_TABLES.md)</a:t>
            </a:r>
          </a:p>
        </p:txBody>
      </p:sp>
      <p:sp>
        <p:nvSpPr>
          <p:cNvPr id="5" name="Rounded Rectangle 4"/>
          <p:cNvSpPr/>
          <p:nvPr/>
        </p:nvSpPr>
        <p:spPr>
          <a:xfrm>
            <a:off x="365760" y="1280160"/>
            <a:ext cx="2377440" cy="1005840"/>
          </a:xfrm>
          <a:prstGeom prst="roundRect">
            <a:avLst/>
          </a:prstGeom>
          <a:solidFill>
            <a:srgbClr val="FDE3E3"/>
          </a:solidFill>
          <a:ln w="15875">
            <a:solidFill>
              <a:srgbClr val="E34948"/>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0B0B0B"/>
                </a:solidFill>
              </a:rPr>
              <a:t>Attacker: flip stored Syn labels -&gt; BENIGN in buffer B</a:t>
            </a:r>
          </a:p>
        </p:txBody>
      </p:sp>
      <p:sp>
        <p:nvSpPr>
          <p:cNvPr id="6" name="Rounded Rectangle 5"/>
          <p:cNvSpPr/>
          <p:nvPr/>
        </p:nvSpPr>
        <p:spPr>
          <a:xfrm>
            <a:off x="365760" y="2651760"/>
            <a:ext cx="2377440" cy="1188720"/>
          </a:xfrm>
          <a:prstGeom prst="roundRect">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0B0B0B"/>
                </a:solidFill>
              </a:rPr>
              <a:t>E0 -&gt; T (frozen, hash-checked)</a:t>
            </a:r>
          </a:p>
          <a:p>
            <a:pPr algn="ctr"/>
            <a:r>
              <a:rPr sz="1200" b="0">
                <a:solidFill>
                  <a:srgbClr val="0B0B0B"/>
                </a:solidFill>
              </a:rPr>
              <a:t>and A0 (keeps learning)</a:t>
            </a:r>
          </a:p>
        </p:txBody>
      </p:sp>
      <p:sp>
        <p:nvSpPr>
          <p:cNvPr id="7" name="Rounded Rectangle 6"/>
          <p:cNvSpPr/>
          <p:nvPr/>
        </p:nvSpPr>
        <p:spPr>
          <a:xfrm>
            <a:off x="3200400" y="1828800"/>
            <a:ext cx="2194560" cy="1188720"/>
          </a:xfrm>
          <a:prstGeom prst="roundRect">
            <a:avLst/>
          </a:prstGeom>
          <a:solidFill>
            <a:srgbClr val="E8F1F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0B0B0B"/>
                </a:solidFill>
              </a:rPr>
              <a:t>C1</a:t>
            </a:r>
          </a:p>
          <a:p>
            <a:pPr algn="ctr"/>
            <a:r>
              <a:rPr sz="1200" b="0">
                <a:solidFill>
                  <a:srgbClr val="0B0B0B"/>
                </a:solidFill>
              </a:rPr>
              <a:t>copy of A + new head rows</a:t>
            </a:r>
          </a:p>
          <a:p>
            <a:pPr algn="ctr"/>
            <a:r>
              <a:rPr sz="1200" b="0">
                <a:solidFill>
                  <a:srgbClr val="0B0B0B"/>
                </a:solidFill>
              </a:rPr>
              <a:t>train on D_t + B</a:t>
            </a:r>
          </a:p>
        </p:txBody>
      </p:sp>
      <p:cxnSp>
        <p:nvCxnSpPr>
          <p:cNvPr id="8" name="Connector 7"/>
          <p:cNvCxnSpPr/>
          <p:nvPr/>
        </p:nvCxnSpPr>
        <p:spPr>
          <a:xfrm flipV="1">
            <a:off x="2743200" y="2560320"/>
            <a:ext cx="457200" cy="640080"/>
          </a:xfrm>
          <a:prstGeom prst="line">
            <a:avLst/>
          </a:prstGeom>
          <a:ln w="22225">
            <a:solidFill>
              <a:srgbClr val="40403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743200" y="1783080"/>
            <a:ext cx="457200" cy="411480"/>
          </a:xfrm>
          <a:prstGeom prst="line">
            <a:avLst/>
          </a:prstGeom>
          <a:ln w="22225">
            <a:solidFill>
              <a:srgbClr val="40403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852160" y="1828800"/>
            <a:ext cx="2194560" cy="1188720"/>
          </a:xfrm>
          <a:prstGeom prst="roundRect">
            <a:avLst/>
          </a:prstGeom>
          <a:solidFill>
            <a:srgbClr val="FFF4D6"/>
          </a:solidFill>
          <a:ln w="15875">
            <a:solidFill>
              <a:srgbClr val="EDA10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0B0B0B"/>
                </a:solidFill>
              </a:rPr>
              <a:t>GATE (validation only)</a:t>
            </a:r>
          </a:p>
          <a:p>
            <a:pPr algn="ctr"/>
            <a:r>
              <a:rPr sz="1200" b="0">
                <a:solidFill>
                  <a:srgbClr val="0B0B0B"/>
                </a:solidFill>
              </a:rPr>
              <a:t>old ≥ ref − 0.05 · new ≥ 0.80</a:t>
            </a:r>
          </a:p>
          <a:p>
            <a:pPr algn="ctr"/>
            <a:r>
              <a:rPr sz="1200" b="0">
                <a:solidFill>
                  <a:srgbClr val="0B0B0B"/>
                </a:solidFill>
              </a:rPr>
              <a:t>FARs ≤ 0.05</a:t>
            </a:r>
          </a:p>
        </p:txBody>
      </p:sp>
      <p:cxnSp>
        <p:nvCxnSpPr>
          <p:cNvPr id="11" name="Connector 10"/>
          <p:cNvCxnSpPr/>
          <p:nvPr/>
        </p:nvCxnSpPr>
        <p:spPr>
          <a:xfrm>
            <a:off x="5394960" y="2423160"/>
            <a:ext cx="457200" cy="0"/>
          </a:xfrm>
          <a:prstGeom prst="line">
            <a:avLst/>
          </a:prstGeom>
          <a:ln w="22225">
            <a:solidFill>
              <a:srgbClr val="40403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778240" y="1097280"/>
            <a:ext cx="3017520" cy="914400"/>
          </a:xfrm>
          <a:prstGeom prst="roundRect">
            <a:avLst/>
          </a:prstGeom>
          <a:solidFill>
            <a:srgbClr val="DFF3E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0B0B0B"/>
                </a:solidFill>
              </a:rPr>
              <a:t>ACCEPT -&gt; deploy A_t</a:t>
            </a:r>
          </a:p>
          <a:p>
            <a:pPr algn="ctr"/>
            <a:r>
              <a:rPr sz="1200" b="0">
                <a:solidFill>
                  <a:srgbClr val="0B0B0B"/>
                </a:solidFill>
              </a:rPr>
              <a:t>buffer gains rows of E_t</a:t>
            </a:r>
          </a:p>
        </p:txBody>
      </p:sp>
      <p:cxnSp>
        <p:nvCxnSpPr>
          <p:cNvPr id="13" name="Connector 12"/>
          <p:cNvCxnSpPr/>
          <p:nvPr/>
        </p:nvCxnSpPr>
        <p:spPr>
          <a:xfrm flipV="1">
            <a:off x="8046720" y="1600200"/>
            <a:ext cx="731520" cy="502920"/>
          </a:xfrm>
          <a:prstGeom prst="line">
            <a:avLst/>
          </a:prstGeom>
          <a:ln w="22225">
            <a:solidFill>
              <a:srgbClr val="1BAF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589519" y="1559051"/>
            <a:ext cx="1645920" cy="274320"/>
          </a:xfrm>
          <a:prstGeom prst="rect">
            <a:avLst/>
          </a:prstGeom>
          <a:noFill/>
        </p:spPr>
        <p:txBody>
          <a:bodyPr wrap="square">
            <a:spAutoFit/>
          </a:bodyPr>
          <a:lstStyle/>
          <a:p>
            <a:pPr algn="ctr">
              <a:spcAft>
                <a:spcPts val="400"/>
              </a:spcAft>
            </a:pPr>
            <a:r>
              <a:rPr sz="1100" b="1">
                <a:solidFill>
                  <a:srgbClr val="1BAF7A"/>
                </a:solidFill>
                <a:latin typeface="Calibri"/>
              </a:rPr>
              <a:t>pass</a:t>
            </a:r>
          </a:p>
        </p:txBody>
      </p:sp>
      <p:sp>
        <p:nvSpPr>
          <p:cNvPr id="15" name="Rounded Rectangle 14"/>
          <p:cNvSpPr/>
          <p:nvPr/>
        </p:nvSpPr>
        <p:spPr>
          <a:xfrm>
            <a:off x="5852160" y="3749039"/>
            <a:ext cx="2194560" cy="1280160"/>
          </a:xfrm>
          <a:prstGeom prst="roundRect">
            <a:avLst/>
          </a:prstGeom>
          <a:solidFill>
            <a:srgbClr val="E8F1F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0B0B0B"/>
                </a:solidFill>
              </a:rPr>
              <a:t>R1 (repair arm only)</a:t>
            </a:r>
          </a:p>
          <a:p>
            <a:pPr algn="ctr"/>
            <a:r>
              <a:rPr sz="1200" b="0">
                <a:solidFill>
                  <a:srgbClr val="0B0B0B"/>
                </a:solidFill>
              </a:rPr>
              <a:t>restart from A; T weights or</a:t>
            </a:r>
          </a:p>
          <a:p>
            <a:pPr algn="ctr"/>
            <a:r>
              <a:rPr sz="1200" b="0">
                <a:solidFill>
                  <a:srgbClr val="0B0B0B"/>
                </a:solidFill>
              </a:rPr>
              <a:t>relabels buffer rows</a:t>
            </a:r>
          </a:p>
        </p:txBody>
      </p:sp>
      <p:cxnSp>
        <p:nvCxnSpPr>
          <p:cNvPr id="16" name="Connector 15"/>
          <p:cNvCxnSpPr/>
          <p:nvPr/>
        </p:nvCxnSpPr>
        <p:spPr>
          <a:xfrm>
            <a:off x="6949440" y="3017520"/>
            <a:ext cx="0" cy="731519"/>
          </a:xfrm>
          <a:prstGeom prst="line">
            <a:avLst/>
          </a:prstGeom>
          <a:ln w="22225">
            <a:solidFill>
              <a:srgbClr val="E349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126479" y="3090672"/>
            <a:ext cx="1645920" cy="274320"/>
          </a:xfrm>
          <a:prstGeom prst="rect">
            <a:avLst/>
          </a:prstGeom>
          <a:noFill/>
        </p:spPr>
        <p:txBody>
          <a:bodyPr wrap="square">
            <a:spAutoFit/>
          </a:bodyPr>
          <a:lstStyle/>
          <a:p>
            <a:pPr algn="ctr">
              <a:spcAft>
                <a:spcPts val="400"/>
              </a:spcAft>
            </a:pPr>
            <a:r>
              <a:rPr sz="1100" b="1">
                <a:solidFill>
                  <a:srgbClr val="E34948"/>
                </a:solidFill>
                <a:latin typeface="Calibri"/>
              </a:rPr>
              <a:t>fail</a:t>
            </a:r>
          </a:p>
        </p:txBody>
      </p:sp>
      <p:sp>
        <p:nvSpPr>
          <p:cNvPr id="18" name="Rounded Rectangle 17"/>
          <p:cNvSpPr/>
          <p:nvPr/>
        </p:nvSpPr>
        <p:spPr>
          <a:xfrm>
            <a:off x="8778240" y="3840480"/>
            <a:ext cx="3017520" cy="1097280"/>
          </a:xfrm>
          <a:prstGeom prst="roundRect">
            <a:avLst/>
          </a:prstGeom>
          <a:solidFill>
            <a:srgbClr val="FDE3E3"/>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0B0B0B"/>
                </a:solidFill>
              </a:rPr>
              <a:t>REJECT both -&gt; fallback</a:t>
            </a:r>
          </a:p>
          <a:p>
            <a:pPr algn="ctr"/>
            <a:r>
              <a:rPr sz="1200" b="0">
                <a:solidFill>
                  <a:srgbClr val="0B0B0B"/>
                </a:solidFill>
              </a:rPr>
              <a:t>keep last accepted model;</a:t>
            </a:r>
          </a:p>
          <a:p>
            <a:pPr algn="ctr"/>
            <a:r>
              <a:rPr sz="1200" b="0">
                <a:solidFill>
                  <a:srgbClr val="0B0B0B"/>
                </a:solidFill>
              </a:rPr>
              <a:t>buffer unchanged</a:t>
            </a:r>
          </a:p>
        </p:txBody>
      </p:sp>
      <p:cxnSp>
        <p:nvCxnSpPr>
          <p:cNvPr id="19" name="Connector 18"/>
          <p:cNvCxnSpPr/>
          <p:nvPr/>
        </p:nvCxnSpPr>
        <p:spPr>
          <a:xfrm>
            <a:off x="8046720" y="4389120"/>
            <a:ext cx="731520" cy="0"/>
          </a:xfrm>
          <a:prstGeom prst="line">
            <a:avLst/>
          </a:prstGeom>
          <a:ln w="22225">
            <a:solidFill>
              <a:srgbClr val="E349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589519" y="4096511"/>
            <a:ext cx="1645920" cy="274320"/>
          </a:xfrm>
          <a:prstGeom prst="rect">
            <a:avLst/>
          </a:prstGeom>
          <a:noFill/>
        </p:spPr>
        <p:txBody>
          <a:bodyPr wrap="square">
            <a:spAutoFit/>
          </a:bodyPr>
          <a:lstStyle/>
          <a:p>
            <a:pPr algn="ctr">
              <a:spcAft>
                <a:spcPts val="400"/>
              </a:spcAft>
            </a:pPr>
            <a:r>
              <a:rPr sz="1100" b="1">
                <a:solidFill>
                  <a:srgbClr val="E34948"/>
                </a:solidFill>
                <a:latin typeface="Calibri"/>
              </a:rPr>
              <a:t>fail</a:t>
            </a:r>
          </a:p>
        </p:txBody>
      </p:sp>
      <p:cxnSp>
        <p:nvCxnSpPr>
          <p:cNvPr id="21" name="Connector 20"/>
          <p:cNvCxnSpPr/>
          <p:nvPr/>
        </p:nvCxnSpPr>
        <p:spPr>
          <a:xfrm flipV="1">
            <a:off x="8046720" y="1828800"/>
            <a:ext cx="731520" cy="2103120"/>
          </a:xfrm>
          <a:prstGeom prst="line">
            <a:avLst/>
          </a:prstGeom>
          <a:ln w="22225">
            <a:solidFill>
              <a:srgbClr val="1BAF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589519" y="2587752"/>
            <a:ext cx="1645920" cy="274320"/>
          </a:xfrm>
          <a:prstGeom prst="rect">
            <a:avLst/>
          </a:prstGeom>
          <a:noFill/>
        </p:spPr>
        <p:txBody>
          <a:bodyPr wrap="square">
            <a:spAutoFit/>
          </a:bodyPr>
          <a:lstStyle/>
          <a:p>
            <a:pPr algn="ctr">
              <a:spcAft>
                <a:spcPts val="400"/>
              </a:spcAft>
            </a:pPr>
            <a:r>
              <a:rPr sz="1100" b="1">
                <a:solidFill>
                  <a:srgbClr val="1BAF7A"/>
                </a:solidFill>
                <a:latin typeface="Calibri"/>
              </a:rPr>
              <a:t>pass</a:t>
            </a:r>
          </a:p>
        </p:txBody>
      </p:sp>
      <p:sp>
        <p:nvSpPr>
          <p:cNvPr id="23" name="TextBox 22"/>
          <p:cNvSpPr txBox="1"/>
          <p:nvPr/>
        </p:nvSpPr>
        <p:spPr>
          <a:xfrm>
            <a:off x="365760" y="5257800"/>
            <a:ext cx="11430000" cy="1188720"/>
          </a:xfrm>
          <a:prstGeom prst="rect">
            <a:avLst/>
          </a:prstGeom>
          <a:noFill/>
        </p:spPr>
        <p:txBody>
          <a:bodyPr wrap="square">
            <a:spAutoFit/>
          </a:bodyPr>
          <a:lstStyle/>
          <a:p>
            <a:pPr algn="l">
              <a:spcAft>
                <a:spcPts val="400"/>
              </a:spcAft>
            </a:pPr>
            <a:r>
              <a:rPr sz="1300" b="1">
                <a:solidFill>
                  <a:srgbClr val="0B0B0B"/>
                </a:solidFill>
                <a:latin typeface="Calibri"/>
              </a:rPr>
              <a:t>• Soft R1 (pre-registered): </a:t>
            </a:r>
            <a:r>
              <a:rPr sz="1300" b="0">
                <a:solidFill>
                  <a:srgbClr val="40403E"/>
                </a:solidFill>
                <a:latin typeface="Calibri"/>
              </a:rPr>
              <a:t>row weight = p_T(stored label | x).  Relabel R1 (FU2, post hoc): if p_T(stored) ≤ 0.1 and T is ≥ 0.9 sure of another class, train the row with T's label</a:t>
            </a:r>
          </a:p>
          <a:p>
            <a:pPr algn="l">
              <a:spcAft>
                <a:spcPts val="400"/>
              </a:spcAft>
            </a:pPr>
            <a:r>
              <a:rPr sz="1300" b="1">
                <a:solidFill>
                  <a:srgbClr val="0B0B0B"/>
                </a:solidFill>
                <a:latin typeface="Calibri"/>
              </a:rPr>
              <a:t>• T is never trained after E0</a:t>
            </a:r>
            <a:r>
              <a:rPr sz="1300" b="0">
                <a:solidFill>
                  <a:srgbClr val="40403E"/>
                </a:solidFill>
                <a:latin typeface="Calibri"/>
              </a:rPr>
              <a:t> and knows only BENIGN and Syn; test rows are never read by any decision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lgn="l">
              <a:spcAft>
                <a:spcPts val="400"/>
              </a:spcAft>
            </a:pPr>
            <a:r>
              <a:rPr sz="2800" b="1">
                <a:solidFill>
                  <a:srgbClr val="0B0B0B"/>
                </a:solidFill>
                <a:latin typeface="Calibri"/>
              </a:rPr>
              <a:t>Why relabelling: the sweep, then FU2's validation decisions</a:t>
            </a:r>
          </a:p>
        </p:txBody>
      </p:sp>
      <p:sp>
        <p:nvSpPr>
          <p:cNvPr id="3" name="TextBox 2"/>
          <p:cNvSpPr txBox="1"/>
          <p:nvPr/>
        </p:nvSpPr>
        <p:spPr>
          <a:xfrm>
            <a:off x="10881360" y="6446520"/>
            <a:ext cx="1097280" cy="274320"/>
          </a:xfrm>
          <a:prstGeom prst="rect">
            <a:avLst/>
          </a:prstGeom>
          <a:noFill/>
        </p:spPr>
        <p:txBody>
          <a:bodyPr wrap="square">
            <a:spAutoFit/>
          </a:bodyPr>
          <a:lstStyle/>
          <a:p>
            <a:pPr algn="r">
              <a:spcAft>
                <a:spcPts val="400"/>
              </a:spcAft>
            </a:pPr>
            <a:r>
              <a:rPr sz="1000" b="0">
                <a:solidFill>
                  <a:srgbClr val="6E6D69"/>
                </a:solidFill>
                <a:latin typeface="Calibri"/>
              </a:rPr>
              <a:t>7 / 10</a:t>
            </a:r>
          </a:p>
        </p:txBody>
      </p:sp>
      <p:sp>
        <p:nvSpPr>
          <p:cNvPr id="4" name="TextBox 3"/>
          <p:cNvSpPr txBox="1"/>
          <p:nvPr/>
        </p:nvSpPr>
        <p:spPr>
          <a:xfrm>
            <a:off x="457200" y="6446520"/>
            <a:ext cx="8229600" cy="274320"/>
          </a:xfrm>
          <a:prstGeom prst="rect">
            <a:avLst/>
          </a:prstGeom>
          <a:noFill/>
        </p:spPr>
        <p:txBody>
          <a:bodyPr wrap="square">
            <a:spAutoFit/>
          </a:bodyPr>
          <a:lstStyle/>
          <a:p>
            <a:pPr algn="l">
              <a:spcAft>
                <a:spcPts val="400"/>
              </a:spcAft>
            </a:pPr>
            <a:r>
              <a:rPr sz="900" b="0">
                <a:solidFill>
                  <a:srgbClr val="6E6D69"/>
                </a:solidFill>
                <a:latin typeface="Calibri"/>
              </a:rPr>
              <a:t>Source: github.com/DevChi1l/cicddos2019-continual-nids (committed files; tables: docs/RESULT_TABLES.md)</a:t>
            </a:r>
          </a:p>
        </p:txBody>
      </p:sp>
      <p:sp>
        <p:nvSpPr>
          <p:cNvPr id="5" name="Rounded Rectangle 4"/>
          <p:cNvSpPr/>
          <p:nvPr/>
        </p:nvSpPr>
        <p:spPr>
          <a:xfrm>
            <a:off x="457200" y="1051560"/>
            <a:ext cx="1508760" cy="292608"/>
          </a:xfrm>
          <a:prstGeom prst="roundRect">
            <a:avLst/>
          </a:prstGeom>
          <a:solidFill>
            <a:srgbClr val="1C5CAB"/>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100" b="1">
                <a:solidFill>
                  <a:srgbClr val="FFFFFF"/>
                </a:solidFill>
              </a:rPr>
              <a:t>VALIDATION</a:t>
            </a:r>
          </a:p>
        </p:txBody>
      </p:sp>
      <p:sp>
        <p:nvSpPr>
          <p:cNvPr id="6" name="Rounded Rectangle 5"/>
          <p:cNvSpPr/>
          <p:nvPr/>
        </p:nvSpPr>
        <p:spPr>
          <a:xfrm>
            <a:off x="2075688" y="1051560"/>
            <a:ext cx="1271016" cy="292608"/>
          </a:xfrm>
          <a:prstGeom prst="roundRect">
            <a:avLst/>
          </a:prstGeom>
          <a:solidFill>
            <a:srgbClr val="B04A00"/>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100" b="1">
                <a:solidFill>
                  <a:srgbClr val="FFFFFF"/>
                </a:solidFill>
              </a:rPr>
              <a:t>POST HOC</a:t>
            </a:r>
          </a:p>
        </p:txBody>
      </p:sp>
      <p:sp>
        <p:nvSpPr>
          <p:cNvPr id="7" name="TextBox 6"/>
          <p:cNvSpPr txBox="1"/>
          <p:nvPr/>
        </p:nvSpPr>
        <p:spPr>
          <a:xfrm>
            <a:off x="3502152" y="1005840"/>
            <a:ext cx="6858000" cy="365760"/>
          </a:xfrm>
          <a:prstGeom prst="rect">
            <a:avLst/>
          </a:prstGeom>
          <a:noFill/>
        </p:spPr>
        <p:txBody>
          <a:bodyPr wrap="square">
            <a:spAutoFit/>
          </a:bodyPr>
          <a:lstStyle/>
          <a:p>
            <a:pPr algn="l">
              <a:spcAft>
                <a:spcPts val="400"/>
              </a:spcAft>
            </a:pPr>
            <a:r>
              <a:rPr sz="1300" b="0">
                <a:solidFill>
                  <a:srgbClr val="6E6D69"/>
                </a:solidFill>
                <a:latin typeface="Calibri"/>
              </a:rPr>
              <a:t>f = 1.0: all 2,000 stored Syn labels flipped; seeds 42-44</a:t>
            </a:r>
          </a:p>
        </p:txBody>
      </p:sp>
      <p:graphicFrame>
        <p:nvGraphicFramePr>
          <p:cNvPr id="8" name="Table 7"/>
          <p:cNvGraphicFramePr>
            <a:graphicFrameLocks noGrp="1"/>
          </p:cNvGraphicFramePr>
          <p:nvPr/>
        </p:nvGraphicFramePr>
        <p:xfrm>
          <a:off x="457200" y="1463040"/>
          <a:ext cx="7589520" cy="4279392"/>
        </p:xfrm>
        <a:graphic>
          <a:graphicData uri="http://schemas.openxmlformats.org/drawingml/2006/table">
            <a:tbl>
              <a:tblPr firstRow="1" bandRow="1">
                <a:tableStyleId>{5C22544A-7EE6-4342-B048-85BDC9FD1C3A}</a:tableStyleId>
              </a:tblPr>
              <a:tblGrid>
                <a:gridCol w="640080"/>
                <a:gridCol w="822960"/>
                <a:gridCol w="1737360"/>
                <a:gridCol w="1188720"/>
                <a:gridCol w="1005840"/>
                <a:gridCol w="1463040"/>
                <a:gridCol w="731520"/>
              </a:tblGrid>
              <a:tr h="329184">
                <a:tc>
                  <a:txBody>
                    <a:bodyPr/>
                    <a:lstStyle/>
                    <a:p>
                      <a:r>
                        <a:rPr sz="1100" b="1">
                          <a:solidFill>
                            <a:srgbClr val="0B0B0B"/>
                          </a:solidFill>
                        </a:rPr>
                        <a:t>seed</a:t>
                      </a:r>
                    </a:p>
                  </a:txBody>
                  <a:tcPr>
                    <a:solidFill>
                      <a:srgbClr val="F3F2EE"/>
                    </a:solidFill>
                  </a:tcPr>
                </a:tc>
                <a:tc>
                  <a:txBody>
                    <a:bodyPr/>
                    <a:lstStyle/>
                    <a:p>
                      <a:r>
                        <a:rPr sz="1100" b="1">
                          <a:solidFill>
                            <a:srgbClr val="0B0B0B"/>
                          </a:solidFill>
                        </a:rPr>
                        <a:t>update</a:t>
                      </a:r>
                    </a:p>
                  </a:txBody>
                  <a:tcPr>
                    <a:solidFill>
                      <a:srgbClr val="F3F2EE"/>
                    </a:solidFill>
                  </a:tcPr>
                </a:tc>
                <a:tc>
                  <a:txBody>
                    <a:bodyPr/>
                    <a:lstStyle/>
                    <a:p>
                      <a:r>
                        <a:rPr sz="1100" b="1">
                          <a:solidFill>
                            <a:srgbClr val="0B0B0B"/>
                          </a:solidFill>
                        </a:rPr>
                        <a:t>attempt</a:t>
                      </a:r>
                    </a:p>
                  </a:txBody>
                  <a:tcPr>
                    <a:solidFill>
                      <a:srgbClr val="F3F2EE"/>
                    </a:solidFill>
                  </a:tcPr>
                </a:tc>
                <a:tc>
                  <a:txBody>
                    <a:bodyPr/>
                    <a:lstStyle/>
                    <a:p>
                      <a:r>
                        <a:rPr sz="1100" b="1">
                          <a:solidFill>
                            <a:srgbClr val="0B0B0B"/>
                          </a:solidFill>
                        </a:rPr>
                        <a:t>Syn val recall</a:t>
                      </a:r>
                    </a:p>
                  </a:txBody>
                  <a:tcPr>
                    <a:solidFill>
                      <a:srgbClr val="F3F2EE"/>
                    </a:solidFill>
                  </a:tcPr>
                </a:tc>
                <a:tc>
                  <a:txBody>
                    <a:bodyPr/>
                    <a:lstStyle/>
                    <a:p>
                      <a:r>
                        <a:rPr sz="1100" b="1">
                          <a:solidFill>
                            <a:srgbClr val="0B0B0B"/>
                          </a:solidFill>
                        </a:rPr>
                        <a:t>Syn floor</a:t>
                      </a:r>
                    </a:p>
                  </a:txBody>
                  <a:tcPr>
                    <a:solidFill>
                      <a:srgbClr val="F3F2EE"/>
                    </a:solidFill>
                  </a:tcPr>
                </a:tc>
                <a:tc>
                  <a:txBody>
                    <a:bodyPr/>
                    <a:lstStyle/>
                    <a:p>
                      <a:r>
                        <a:rPr sz="1100" b="1">
                          <a:solidFill>
                            <a:srgbClr val="0B0B0B"/>
                          </a:solidFill>
                        </a:rPr>
                        <a:t>rows relabelled (to true class)</a:t>
                      </a:r>
                    </a:p>
                  </a:txBody>
                  <a:tcPr>
                    <a:solidFill>
                      <a:srgbClr val="F3F2EE"/>
                    </a:solidFill>
                  </a:tcPr>
                </a:tc>
                <a:tc>
                  <a:txBody>
                    <a:bodyPr/>
                    <a:lstStyle/>
                    <a:p>
                      <a:r>
                        <a:rPr sz="1100" b="1">
                          <a:solidFill>
                            <a:srgbClr val="0B0B0B"/>
                          </a:solidFill>
                        </a:rPr>
                        <a:t>gate</a:t>
                      </a:r>
                    </a:p>
                  </a:txBody>
                  <a:tcPr>
                    <a:solidFill>
                      <a:srgbClr val="F3F2EE"/>
                    </a:solidFill>
                  </a:tcPr>
                </a:tc>
              </a:tr>
              <a:tr h="329184">
                <a:tc>
                  <a:txBody>
                    <a:bodyPr/>
                    <a:lstStyle/>
                    <a:p>
                      <a:r>
                        <a:rPr sz="1100" b="0">
                          <a:solidFill>
                            <a:srgbClr val="0B0B0B"/>
                          </a:solidFill>
                        </a:rPr>
                        <a:t>42</a:t>
                      </a:r>
                    </a:p>
                  </a:txBody>
                  <a:tcPr>
                    <a:solidFill>
                      <a:srgbClr val="FFFFFF"/>
                    </a:solidFill>
                  </a:tcPr>
                </a:tc>
                <a:tc>
                  <a:txBody>
                    <a:bodyPr/>
                    <a:lstStyle/>
                    <a:p>
                      <a:r>
                        <a:rPr sz="1100" b="0">
                          <a:solidFill>
                            <a:srgbClr val="0B0B0B"/>
                          </a:solidFill>
                        </a:rPr>
                        <a:t>E1</a:t>
                      </a:r>
                    </a:p>
                  </a:txBody>
                  <a:tcPr>
                    <a:solidFill>
                      <a:srgbClr val="FFFFFF"/>
                    </a:solidFill>
                  </a:tcPr>
                </a:tc>
                <a:tc>
                  <a:txBody>
                    <a:bodyPr/>
                    <a:lstStyle/>
                    <a:p>
                      <a:r>
                        <a:rPr sz="1100" b="0">
                          <a:solidFill>
                            <a:srgbClr val="0B0B0B"/>
                          </a:solidFill>
                        </a:rPr>
                        <a:t>C1 (stored labels)</a:t>
                      </a:r>
                    </a:p>
                  </a:txBody>
                  <a:tcPr>
                    <a:solidFill>
                      <a:srgbClr val="FFFFFF"/>
                    </a:solidFill>
                  </a:tcPr>
                </a:tc>
                <a:tc>
                  <a:txBody>
                    <a:bodyPr/>
                    <a:lstStyle/>
                    <a:p>
                      <a:r>
                        <a:rPr sz="1100" b="0">
                          <a:solidFill>
                            <a:srgbClr val="0B0B0B"/>
                          </a:solidFill>
                        </a:rPr>
                        <a:t>0.0000</a:t>
                      </a:r>
                    </a:p>
                  </a:txBody>
                  <a:tcPr>
                    <a:solidFill>
                      <a:srgbClr val="FFFFFF"/>
                    </a:solidFill>
                  </a:tcPr>
                </a:tc>
                <a:tc>
                  <a:txBody>
                    <a:bodyPr/>
                    <a:lstStyle/>
                    <a:p>
                      <a:r>
                        <a:rPr sz="1100" b="0">
                          <a:solidFill>
                            <a:srgbClr val="0B0B0B"/>
                          </a:solidFill>
                        </a:rPr>
                        <a:t>0.9453</a:t>
                      </a:r>
                    </a:p>
                  </a:txBody>
                  <a:tcPr>
                    <a:solidFill>
                      <a:srgbClr val="FFFFFF"/>
                    </a:solidFill>
                  </a:tcPr>
                </a:tc>
                <a:tc>
                  <a:txBody>
                    <a:bodyPr/>
                    <a:lstStyle/>
                    <a:p>
                      <a:r>
                        <a:rPr sz="1100" b="0">
                          <a:solidFill>
                            <a:srgbClr val="0B0B0B"/>
                          </a:solidFill>
                        </a:rPr>
                        <a:t>-</a:t>
                      </a:r>
                    </a:p>
                  </a:txBody>
                  <a:tcPr>
                    <a:solidFill>
                      <a:srgbClr val="FFFFFF"/>
                    </a:solidFill>
                  </a:tcPr>
                </a:tc>
                <a:tc>
                  <a:txBody>
                    <a:bodyPr/>
                    <a:lstStyle/>
                    <a:p>
                      <a:r>
                        <a:rPr sz="1100" b="0">
                          <a:solidFill>
                            <a:srgbClr val="0B0B0B"/>
                          </a:solidFill>
                        </a:rPr>
                        <a:t>REJECT</a:t>
                      </a:r>
                    </a:p>
                  </a:txBody>
                  <a:tcPr>
                    <a:solidFill>
                      <a:srgbClr val="FFFFFF"/>
                    </a:solidFill>
                  </a:tcPr>
                </a:tc>
              </a:tr>
              <a:tr h="329184">
                <a:tc>
                  <a:txBody>
                    <a:bodyPr/>
                    <a:lstStyle/>
                    <a:p>
                      <a:r>
                        <a:rPr sz="1100" b="1">
                          <a:solidFill>
                            <a:srgbClr val="0B0B0B"/>
                          </a:solidFill>
                        </a:rPr>
                        <a:t>42</a:t>
                      </a:r>
                    </a:p>
                  </a:txBody>
                  <a:tcPr>
                    <a:solidFill>
                      <a:srgbClr val="FFF4D6"/>
                    </a:solidFill>
                  </a:tcPr>
                </a:tc>
                <a:tc>
                  <a:txBody>
                    <a:bodyPr/>
                    <a:lstStyle/>
                    <a:p>
                      <a:r>
                        <a:rPr sz="1100" b="1">
                          <a:solidFill>
                            <a:srgbClr val="0B0B0B"/>
                          </a:solidFill>
                        </a:rPr>
                        <a:t>E1</a:t>
                      </a:r>
                    </a:p>
                  </a:txBody>
                  <a:tcPr>
                    <a:solidFill>
                      <a:srgbClr val="FFF4D6"/>
                    </a:solidFill>
                  </a:tcPr>
                </a:tc>
                <a:tc>
                  <a:txBody>
                    <a:bodyPr/>
                    <a:lstStyle/>
                    <a:p>
                      <a:r>
                        <a:rPr sz="1100" b="1">
                          <a:solidFill>
                            <a:srgbClr val="0B0B0B"/>
                          </a:solidFill>
                        </a:rPr>
                        <a:t>R1 relabel</a:t>
                      </a:r>
                    </a:p>
                  </a:txBody>
                  <a:tcPr>
                    <a:solidFill>
                      <a:srgbClr val="FFF4D6"/>
                    </a:solidFill>
                  </a:tcPr>
                </a:tc>
                <a:tc>
                  <a:txBody>
                    <a:bodyPr/>
                    <a:lstStyle/>
                    <a:p>
                      <a:r>
                        <a:rPr sz="1100" b="1">
                          <a:solidFill>
                            <a:srgbClr val="0B0B0B"/>
                          </a:solidFill>
                        </a:rPr>
                        <a:t>0.9953</a:t>
                      </a:r>
                    </a:p>
                  </a:txBody>
                  <a:tcPr>
                    <a:solidFill>
                      <a:srgbClr val="FFF4D6"/>
                    </a:solidFill>
                  </a:tcPr>
                </a:tc>
                <a:tc>
                  <a:txBody>
                    <a:bodyPr/>
                    <a:lstStyle/>
                    <a:p>
                      <a:r>
                        <a:rPr sz="1100" b="1">
                          <a:solidFill>
                            <a:srgbClr val="0B0B0B"/>
                          </a:solidFill>
                        </a:rPr>
                        <a:t>0.9453</a:t>
                      </a:r>
                    </a:p>
                  </a:txBody>
                  <a:tcPr>
                    <a:solidFill>
                      <a:srgbClr val="FFF4D6"/>
                    </a:solidFill>
                  </a:tcPr>
                </a:tc>
                <a:tc>
                  <a:txBody>
                    <a:bodyPr/>
                    <a:lstStyle/>
                    <a:p>
                      <a:r>
                        <a:rPr sz="1100" b="1">
                          <a:solidFill>
                            <a:srgbClr val="0B0B0B"/>
                          </a:solidFill>
                        </a:rPr>
                        <a:t>1995 (1995)</a:t>
                      </a:r>
                    </a:p>
                  </a:txBody>
                  <a:tcPr>
                    <a:solidFill>
                      <a:srgbClr val="FFF4D6"/>
                    </a:solidFill>
                  </a:tcPr>
                </a:tc>
                <a:tc>
                  <a:txBody>
                    <a:bodyPr/>
                    <a:lstStyle/>
                    <a:p>
                      <a:r>
                        <a:rPr sz="1100" b="1">
                          <a:solidFill>
                            <a:srgbClr val="0B0B0B"/>
                          </a:solidFill>
                        </a:rPr>
                        <a:t>ACCEPT</a:t>
                      </a:r>
                    </a:p>
                  </a:txBody>
                  <a:tcPr>
                    <a:solidFill>
                      <a:srgbClr val="FFF4D6"/>
                    </a:solidFill>
                  </a:tcPr>
                </a:tc>
              </a:tr>
              <a:tr h="329184">
                <a:tc>
                  <a:txBody>
                    <a:bodyPr/>
                    <a:lstStyle/>
                    <a:p>
                      <a:r>
                        <a:rPr sz="1100" b="0">
                          <a:solidFill>
                            <a:srgbClr val="0B0B0B"/>
                          </a:solidFill>
                        </a:rPr>
                        <a:t>42</a:t>
                      </a:r>
                    </a:p>
                  </a:txBody>
                  <a:tcPr>
                    <a:solidFill>
                      <a:srgbClr val="FFFFFF"/>
                    </a:solidFill>
                  </a:tcPr>
                </a:tc>
                <a:tc>
                  <a:txBody>
                    <a:bodyPr/>
                    <a:lstStyle/>
                    <a:p>
                      <a:r>
                        <a:rPr sz="1100" b="0">
                          <a:solidFill>
                            <a:srgbClr val="0B0B0B"/>
                          </a:solidFill>
                        </a:rPr>
                        <a:t>E2</a:t>
                      </a:r>
                    </a:p>
                  </a:txBody>
                  <a:tcPr>
                    <a:solidFill>
                      <a:srgbClr val="FFFFFF"/>
                    </a:solidFill>
                  </a:tcPr>
                </a:tc>
                <a:tc>
                  <a:txBody>
                    <a:bodyPr/>
                    <a:lstStyle/>
                    <a:p>
                      <a:r>
                        <a:rPr sz="1100" b="0">
                          <a:solidFill>
                            <a:srgbClr val="0B0B0B"/>
                          </a:solidFill>
                        </a:rPr>
                        <a:t>C1 (stored labels)</a:t>
                      </a:r>
                    </a:p>
                  </a:txBody>
                  <a:tcPr>
                    <a:solidFill>
                      <a:srgbClr val="FFFFFF"/>
                    </a:solidFill>
                  </a:tcPr>
                </a:tc>
                <a:tc>
                  <a:txBody>
                    <a:bodyPr/>
                    <a:lstStyle/>
                    <a:p>
                      <a:r>
                        <a:rPr sz="1100" b="0">
                          <a:solidFill>
                            <a:srgbClr val="0B0B0B"/>
                          </a:solidFill>
                        </a:rPr>
                        <a:t>0.0000</a:t>
                      </a:r>
                    </a:p>
                  </a:txBody>
                  <a:tcPr>
                    <a:solidFill>
                      <a:srgbClr val="FFFFFF"/>
                    </a:solidFill>
                  </a:tcPr>
                </a:tc>
                <a:tc>
                  <a:txBody>
                    <a:bodyPr/>
                    <a:lstStyle/>
                    <a:p>
                      <a:r>
                        <a:rPr sz="1100" b="0">
                          <a:solidFill>
                            <a:srgbClr val="0B0B0B"/>
                          </a:solidFill>
                        </a:rPr>
                        <a:t>0.9453</a:t>
                      </a:r>
                    </a:p>
                  </a:txBody>
                  <a:tcPr>
                    <a:solidFill>
                      <a:srgbClr val="FFFFFF"/>
                    </a:solidFill>
                  </a:tcPr>
                </a:tc>
                <a:tc>
                  <a:txBody>
                    <a:bodyPr/>
                    <a:lstStyle/>
                    <a:p>
                      <a:r>
                        <a:rPr sz="1100" b="0">
                          <a:solidFill>
                            <a:srgbClr val="0B0B0B"/>
                          </a:solidFill>
                        </a:rPr>
                        <a:t>-</a:t>
                      </a:r>
                    </a:p>
                  </a:txBody>
                  <a:tcPr>
                    <a:solidFill>
                      <a:srgbClr val="FFFFFF"/>
                    </a:solidFill>
                  </a:tcPr>
                </a:tc>
                <a:tc>
                  <a:txBody>
                    <a:bodyPr/>
                    <a:lstStyle/>
                    <a:p>
                      <a:r>
                        <a:rPr sz="1100" b="0">
                          <a:solidFill>
                            <a:srgbClr val="0B0B0B"/>
                          </a:solidFill>
                        </a:rPr>
                        <a:t>REJECT</a:t>
                      </a:r>
                    </a:p>
                  </a:txBody>
                  <a:tcPr>
                    <a:solidFill>
                      <a:srgbClr val="FFFFFF"/>
                    </a:solidFill>
                  </a:tcPr>
                </a:tc>
              </a:tr>
              <a:tr h="329184">
                <a:tc>
                  <a:txBody>
                    <a:bodyPr/>
                    <a:lstStyle/>
                    <a:p>
                      <a:r>
                        <a:rPr sz="1100" b="1">
                          <a:solidFill>
                            <a:srgbClr val="0B0B0B"/>
                          </a:solidFill>
                        </a:rPr>
                        <a:t>42</a:t>
                      </a:r>
                    </a:p>
                  </a:txBody>
                  <a:tcPr>
                    <a:solidFill>
                      <a:srgbClr val="FFF4D6"/>
                    </a:solidFill>
                  </a:tcPr>
                </a:tc>
                <a:tc>
                  <a:txBody>
                    <a:bodyPr/>
                    <a:lstStyle/>
                    <a:p>
                      <a:r>
                        <a:rPr sz="1100" b="1">
                          <a:solidFill>
                            <a:srgbClr val="0B0B0B"/>
                          </a:solidFill>
                        </a:rPr>
                        <a:t>E2</a:t>
                      </a:r>
                    </a:p>
                  </a:txBody>
                  <a:tcPr>
                    <a:solidFill>
                      <a:srgbClr val="FFF4D6"/>
                    </a:solidFill>
                  </a:tcPr>
                </a:tc>
                <a:tc>
                  <a:txBody>
                    <a:bodyPr/>
                    <a:lstStyle/>
                    <a:p>
                      <a:r>
                        <a:rPr sz="1100" b="1">
                          <a:solidFill>
                            <a:srgbClr val="0B0B0B"/>
                          </a:solidFill>
                        </a:rPr>
                        <a:t>R1 relabel</a:t>
                      </a:r>
                    </a:p>
                  </a:txBody>
                  <a:tcPr>
                    <a:solidFill>
                      <a:srgbClr val="FFF4D6"/>
                    </a:solidFill>
                  </a:tcPr>
                </a:tc>
                <a:tc>
                  <a:txBody>
                    <a:bodyPr/>
                    <a:lstStyle/>
                    <a:p>
                      <a:r>
                        <a:rPr sz="1100" b="1">
                          <a:solidFill>
                            <a:srgbClr val="0B0B0B"/>
                          </a:solidFill>
                        </a:rPr>
                        <a:t>0.9953</a:t>
                      </a:r>
                    </a:p>
                  </a:txBody>
                  <a:tcPr>
                    <a:solidFill>
                      <a:srgbClr val="FFF4D6"/>
                    </a:solidFill>
                  </a:tcPr>
                </a:tc>
                <a:tc>
                  <a:txBody>
                    <a:bodyPr/>
                    <a:lstStyle/>
                    <a:p>
                      <a:r>
                        <a:rPr sz="1100" b="1">
                          <a:solidFill>
                            <a:srgbClr val="0B0B0B"/>
                          </a:solidFill>
                        </a:rPr>
                        <a:t>0.9453</a:t>
                      </a:r>
                    </a:p>
                  </a:txBody>
                  <a:tcPr>
                    <a:solidFill>
                      <a:srgbClr val="FFF4D6"/>
                    </a:solidFill>
                  </a:tcPr>
                </a:tc>
                <a:tc>
                  <a:txBody>
                    <a:bodyPr/>
                    <a:lstStyle/>
                    <a:p>
                      <a:r>
                        <a:rPr sz="1100" b="1">
                          <a:solidFill>
                            <a:srgbClr val="0B0B0B"/>
                          </a:solidFill>
                        </a:rPr>
                        <a:t>1995 (1995)</a:t>
                      </a:r>
                    </a:p>
                  </a:txBody>
                  <a:tcPr>
                    <a:solidFill>
                      <a:srgbClr val="FFF4D6"/>
                    </a:solidFill>
                  </a:tcPr>
                </a:tc>
                <a:tc>
                  <a:txBody>
                    <a:bodyPr/>
                    <a:lstStyle/>
                    <a:p>
                      <a:r>
                        <a:rPr sz="1100" b="1">
                          <a:solidFill>
                            <a:srgbClr val="0B0B0B"/>
                          </a:solidFill>
                        </a:rPr>
                        <a:t>ACCEPT</a:t>
                      </a:r>
                    </a:p>
                  </a:txBody>
                  <a:tcPr>
                    <a:solidFill>
                      <a:srgbClr val="FFF4D6"/>
                    </a:solidFill>
                  </a:tcPr>
                </a:tc>
              </a:tr>
              <a:tr h="329184">
                <a:tc>
                  <a:txBody>
                    <a:bodyPr/>
                    <a:lstStyle/>
                    <a:p>
                      <a:r>
                        <a:rPr sz="1100" b="0">
                          <a:solidFill>
                            <a:srgbClr val="0B0B0B"/>
                          </a:solidFill>
                        </a:rPr>
                        <a:t>43</a:t>
                      </a:r>
                    </a:p>
                  </a:txBody>
                  <a:tcPr>
                    <a:solidFill>
                      <a:srgbClr val="FFFFFF"/>
                    </a:solidFill>
                  </a:tcPr>
                </a:tc>
                <a:tc>
                  <a:txBody>
                    <a:bodyPr/>
                    <a:lstStyle/>
                    <a:p>
                      <a:r>
                        <a:rPr sz="1100" b="0">
                          <a:solidFill>
                            <a:srgbClr val="0B0B0B"/>
                          </a:solidFill>
                        </a:rPr>
                        <a:t>E1</a:t>
                      </a:r>
                    </a:p>
                  </a:txBody>
                  <a:tcPr>
                    <a:solidFill>
                      <a:srgbClr val="FFFFFF"/>
                    </a:solidFill>
                  </a:tcPr>
                </a:tc>
                <a:tc>
                  <a:txBody>
                    <a:bodyPr/>
                    <a:lstStyle/>
                    <a:p>
                      <a:r>
                        <a:rPr sz="1100" b="0">
                          <a:solidFill>
                            <a:srgbClr val="0B0B0B"/>
                          </a:solidFill>
                        </a:rPr>
                        <a:t>C1 (stored labels)</a:t>
                      </a:r>
                    </a:p>
                  </a:txBody>
                  <a:tcPr>
                    <a:solidFill>
                      <a:srgbClr val="FFFFFF"/>
                    </a:solidFill>
                  </a:tcPr>
                </a:tc>
                <a:tc>
                  <a:txBody>
                    <a:bodyPr/>
                    <a:lstStyle/>
                    <a:p>
                      <a:r>
                        <a:rPr sz="1100" b="0">
                          <a:solidFill>
                            <a:srgbClr val="0B0B0B"/>
                          </a:solidFill>
                        </a:rPr>
                        <a:t>0.0000</a:t>
                      </a:r>
                    </a:p>
                  </a:txBody>
                  <a:tcPr>
                    <a:solidFill>
                      <a:srgbClr val="FFFFFF"/>
                    </a:solidFill>
                  </a:tcPr>
                </a:tc>
                <a:tc>
                  <a:txBody>
                    <a:bodyPr/>
                    <a:lstStyle/>
                    <a:p>
                      <a:r>
                        <a:rPr sz="1100" b="0">
                          <a:solidFill>
                            <a:srgbClr val="0B0B0B"/>
                          </a:solidFill>
                        </a:rPr>
                        <a:t>0.9461</a:t>
                      </a:r>
                    </a:p>
                  </a:txBody>
                  <a:tcPr>
                    <a:solidFill>
                      <a:srgbClr val="FFFFFF"/>
                    </a:solidFill>
                  </a:tcPr>
                </a:tc>
                <a:tc>
                  <a:txBody>
                    <a:bodyPr/>
                    <a:lstStyle/>
                    <a:p>
                      <a:r>
                        <a:rPr sz="1100" b="0">
                          <a:solidFill>
                            <a:srgbClr val="0B0B0B"/>
                          </a:solidFill>
                        </a:rPr>
                        <a:t>-</a:t>
                      </a:r>
                    </a:p>
                  </a:txBody>
                  <a:tcPr>
                    <a:solidFill>
                      <a:srgbClr val="FFFFFF"/>
                    </a:solidFill>
                  </a:tcPr>
                </a:tc>
                <a:tc>
                  <a:txBody>
                    <a:bodyPr/>
                    <a:lstStyle/>
                    <a:p>
                      <a:r>
                        <a:rPr sz="1100" b="0">
                          <a:solidFill>
                            <a:srgbClr val="0B0B0B"/>
                          </a:solidFill>
                        </a:rPr>
                        <a:t>REJECT</a:t>
                      </a:r>
                    </a:p>
                  </a:txBody>
                  <a:tcPr>
                    <a:solidFill>
                      <a:srgbClr val="FFFFFF"/>
                    </a:solidFill>
                  </a:tcPr>
                </a:tc>
              </a:tr>
              <a:tr h="329184">
                <a:tc>
                  <a:txBody>
                    <a:bodyPr/>
                    <a:lstStyle/>
                    <a:p>
                      <a:r>
                        <a:rPr sz="1100" b="1">
                          <a:solidFill>
                            <a:srgbClr val="0B0B0B"/>
                          </a:solidFill>
                        </a:rPr>
                        <a:t>43</a:t>
                      </a:r>
                    </a:p>
                  </a:txBody>
                  <a:tcPr>
                    <a:solidFill>
                      <a:srgbClr val="FFF4D6"/>
                    </a:solidFill>
                  </a:tcPr>
                </a:tc>
                <a:tc>
                  <a:txBody>
                    <a:bodyPr/>
                    <a:lstStyle/>
                    <a:p>
                      <a:r>
                        <a:rPr sz="1100" b="1">
                          <a:solidFill>
                            <a:srgbClr val="0B0B0B"/>
                          </a:solidFill>
                        </a:rPr>
                        <a:t>E1</a:t>
                      </a:r>
                    </a:p>
                  </a:txBody>
                  <a:tcPr>
                    <a:solidFill>
                      <a:srgbClr val="FFF4D6"/>
                    </a:solidFill>
                  </a:tcPr>
                </a:tc>
                <a:tc>
                  <a:txBody>
                    <a:bodyPr/>
                    <a:lstStyle/>
                    <a:p>
                      <a:r>
                        <a:rPr sz="1100" b="1">
                          <a:solidFill>
                            <a:srgbClr val="0B0B0B"/>
                          </a:solidFill>
                        </a:rPr>
                        <a:t>R1 relabel</a:t>
                      </a:r>
                    </a:p>
                  </a:txBody>
                  <a:tcPr>
                    <a:solidFill>
                      <a:srgbClr val="FFF4D6"/>
                    </a:solidFill>
                  </a:tcPr>
                </a:tc>
                <a:tc>
                  <a:txBody>
                    <a:bodyPr/>
                    <a:lstStyle/>
                    <a:p>
                      <a:r>
                        <a:rPr sz="1100" b="1">
                          <a:solidFill>
                            <a:srgbClr val="0B0B0B"/>
                          </a:solidFill>
                        </a:rPr>
                        <a:t>0.9941</a:t>
                      </a:r>
                    </a:p>
                  </a:txBody>
                  <a:tcPr>
                    <a:solidFill>
                      <a:srgbClr val="FFF4D6"/>
                    </a:solidFill>
                  </a:tcPr>
                </a:tc>
                <a:tc>
                  <a:txBody>
                    <a:bodyPr/>
                    <a:lstStyle/>
                    <a:p>
                      <a:r>
                        <a:rPr sz="1100" b="1">
                          <a:solidFill>
                            <a:srgbClr val="0B0B0B"/>
                          </a:solidFill>
                        </a:rPr>
                        <a:t>0.9461</a:t>
                      </a:r>
                    </a:p>
                  </a:txBody>
                  <a:tcPr>
                    <a:solidFill>
                      <a:srgbClr val="FFF4D6"/>
                    </a:solidFill>
                  </a:tcPr>
                </a:tc>
                <a:tc>
                  <a:txBody>
                    <a:bodyPr/>
                    <a:lstStyle/>
                    <a:p>
                      <a:r>
                        <a:rPr sz="1100" b="1">
                          <a:solidFill>
                            <a:srgbClr val="0B0B0B"/>
                          </a:solidFill>
                        </a:rPr>
                        <a:t>1994 (1994)</a:t>
                      </a:r>
                    </a:p>
                  </a:txBody>
                  <a:tcPr>
                    <a:solidFill>
                      <a:srgbClr val="FFF4D6"/>
                    </a:solidFill>
                  </a:tcPr>
                </a:tc>
                <a:tc>
                  <a:txBody>
                    <a:bodyPr/>
                    <a:lstStyle/>
                    <a:p>
                      <a:r>
                        <a:rPr sz="1100" b="1">
                          <a:solidFill>
                            <a:srgbClr val="0B0B0B"/>
                          </a:solidFill>
                        </a:rPr>
                        <a:t>ACCEPT</a:t>
                      </a:r>
                    </a:p>
                  </a:txBody>
                  <a:tcPr>
                    <a:solidFill>
                      <a:srgbClr val="FFF4D6"/>
                    </a:solidFill>
                  </a:tcPr>
                </a:tc>
              </a:tr>
              <a:tr h="329184">
                <a:tc>
                  <a:txBody>
                    <a:bodyPr/>
                    <a:lstStyle/>
                    <a:p>
                      <a:r>
                        <a:rPr sz="1100" b="0">
                          <a:solidFill>
                            <a:srgbClr val="0B0B0B"/>
                          </a:solidFill>
                        </a:rPr>
                        <a:t>43</a:t>
                      </a:r>
                    </a:p>
                  </a:txBody>
                  <a:tcPr>
                    <a:solidFill>
                      <a:srgbClr val="FFFFFF"/>
                    </a:solidFill>
                  </a:tcPr>
                </a:tc>
                <a:tc>
                  <a:txBody>
                    <a:bodyPr/>
                    <a:lstStyle/>
                    <a:p>
                      <a:r>
                        <a:rPr sz="1100" b="0">
                          <a:solidFill>
                            <a:srgbClr val="0B0B0B"/>
                          </a:solidFill>
                        </a:rPr>
                        <a:t>E2</a:t>
                      </a:r>
                    </a:p>
                  </a:txBody>
                  <a:tcPr>
                    <a:solidFill>
                      <a:srgbClr val="FFFFFF"/>
                    </a:solidFill>
                  </a:tcPr>
                </a:tc>
                <a:tc>
                  <a:txBody>
                    <a:bodyPr/>
                    <a:lstStyle/>
                    <a:p>
                      <a:r>
                        <a:rPr sz="1100" b="0">
                          <a:solidFill>
                            <a:srgbClr val="0B0B0B"/>
                          </a:solidFill>
                        </a:rPr>
                        <a:t>C1 (stored labels)</a:t>
                      </a:r>
                    </a:p>
                  </a:txBody>
                  <a:tcPr>
                    <a:solidFill>
                      <a:srgbClr val="FFFFFF"/>
                    </a:solidFill>
                  </a:tcPr>
                </a:tc>
                <a:tc>
                  <a:txBody>
                    <a:bodyPr/>
                    <a:lstStyle/>
                    <a:p>
                      <a:r>
                        <a:rPr sz="1100" b="0">
                          <a:solidFill>
                            <a:srgbClr val="0B0B0B"/>
                          </a:solidFill>
                        </a:rPr>
                        <a:t>0.0000</a:t>
                      </a:r>
                    </a:p>
                  </a:txBody>
                  <a:tcPr>
                    <a:solidFill>
                      <a:srgbClr val="FFFFFF"/>
                    </a:solidFill>
                  </a:tcPr>
                </a:tc>
                <a:tc>
                  <a:txBody>
                    <a:bodyPr/>
                    <a:lstStyle/>
                    <a:p>
                      <a:r>
                        <a:rPr sz="1100" b="0">
                          <a:solidFill>
                            <a:srgbClr val="0B0B0B"/>
                          </a:solidFill>
                        </a:rPr>
                        <a:t>0.9441</a:t>
                      </a:r>
                    </a:p>
                  </a:txBody>
                  <a:tcPr>
                    <a:solidFill>
                      <a:srgbClr val="FFFFFF"/>
                    </a:solidFill>
                  </a:tcPr>
                </a:tc>
                <a:tc>
                  <a:txBody>
                    <a:bodyPr/>
                    <a:lstStyle/>
                    <a:p>
                      <a:r>
                        <a:rPr sz="1100" b="0">
                          <a:solidFill>
                            <a:srgbClr val="0B0B0B"/>
                          </a:solidFill>
                        </a:rPr>
                        <a:t>-</a:t>
                      </a:r>
                    </a:p>
                  </a:txBody>
                  <a:tcPr>
                    <a:solidFill>
                      <a:srgbClr val="FFFFFF"/>
                    </a:solidFill>
                  </a:tcPr>
                </a:tc>
                <a:tc>
                  <a:txBody>
                    <a:bodyPr/>
                    <a:lstStyle/>
                    <a:p>
                      <a:r>
                        <a:rPr sz="1100" b="0">
                          <a:solidFill>
                            <a:srgbClr val="0B0B0B"/>
                          </a:solidFill>
                        </a:rPr>
                        <a:t>REJECT</a:t>
                      </a:r>
                    </a:p>
                  </a:txBody>
                  <a:tcPr>
                    <a:solidFill>
                      <a:srgbClr val="FFFFFF"/>
                    </a:solidFill>
                  </a:tcPr>
                </a:tc>
              </a:tr>
              <a:tr h="329184">
                <a:tc>
                  <a:txBody>
                    <a:bodyPr/>
                    <a:lstStyle/>
                    <a:p>
                      <a:r>
                        <a:rPr sz="1100" b="1">
                          <a:solidFill>
                            <a:srgbClr val="0B0B0B"/>
                          </a:solidFill>
                        </a:rPr>
                        <a:t>43</a:t>
                      </a:r>
                    </a:p>
                  </a:txBody>
                  <a:tcPr>
                    <a:solidFill>
                      <a:srgbClr val="FFF4D6"/>
                    </a:solidFill>
                  </a:tcPr>
                </a:tc>
                <a:tc>
                  <a:txBody>
                    <a:bodyPr/>
                    <a:lstStyle/>
                    <a:p>
                      <a:r>
                        <a:rPr sz="1100" b="1">
                          <a:solidFill>
                            <a:srgbClr val="0B0B0B"/>
                          </a:solidFill>
                        </a:rPr>
                        <a:t>E2</a:t>
                      </a:r>
                    </a:p>
                  </a:txBody>
                  <a:tcPr>
                    <a:solidFill>
                      <a:srgbClr val="FFF4D6"/>
                    </a:solidFill>
                  </a:tcPr>
                </a:tc>
                <a:tc>
                  <a:txBody>
                    <a:bodyPr/>
                    <a:lstStyle/>
                    <a:p>
                      <a:r>
                        <a:rPr sz="1100" b="1">
                          <a:solidFill>
                            <a:srgbClr val="0B0B0B"/>
                          </a:solidFill>
                        </a:rPr>
                        <a:t>R1 relabel</a:t>
                      </a:r>
                    </a:p>
                  </a:txBody>
                  <a:tcPr>
                    <a:solidFill>
                      <a:srgbClr val="FFF4D6"/>
                    </a:solidFill>
                  </a:tcPr>
                </a:tc>
                <a:tc>
                  <a:txBody>
                    <a:bodyPr/>
                    <a:lstStyle/>
                    <a:p>
                      <a:r>
                        <a:rPr sz="1100" b="1">
                          <a:solidFill>
                            <a:srgbClr val="0B0B0B"/>
                          </a:solidFill>
                        </a:rPr>
                        <a:t>0.9955</a:t>
                      </a:r>
                    </a:p>
                  </a:txBody>
                  <a:tcPr>
                    <a:solidFill>
                      <a:srgbClr val="FFF4D6"/>
                    </a:solidFill>
                  </a:tcPr>
                </a:tc>
                <a:tc>
                  <a:txBody>
                    <a:bodyPr/>
                    <a:lstStyle/>
                    <a:p>
                      <a:r>
                        <a:rPr sz="1100" b="1">
                          <a:solidFill>
                            <a:srgbClr val="0B0B0B"/>
                          </a:solidFill>
                        </a:rPr>
                        <a:t>0.9441</a:t>
                      </a:r>
                    </a:p>
                  </a:txBody>
                  <a:tcPr>
                    <a:solidFill>
                      <a:srgbClr val="FFF4D6"/>
                    </a:solidFill>
                  </a:tcPr>
                </a:tc>
                <a:tc>
                  <a:txBody>
                    <a:bodyPr/>
                    <a:lstStyle/>
                    <a:p>
                      <a:r>
                        <a:rPr sz="1100" b="1">
                          <a:solidFill>
                            <a:srgbClr val="0B0B0B"/>
                          </a:solidFill>
                        </a:rPr>
                        <a:t>1994 (1994)</a:t>
                      </a:r>
                    </a:p>
                  </a:txBody>
                  <a:tcPr>
                    <a:solidFill>
                      <a:srgbClr val="FFF4D6"/>
                    </a:solidFill>
                  </a:tcPr>
                </a:tc>
                <a:tc>
                  <a:txBody>
                    <a:bodyPr/>
                    <a:lstStyle/>
                    <a:p>
                      <a:r>
                        <a:rPr sz="1100" b="1">
                          <a:solidFill>
                            <a:srgbClr val="0B0B0B"/>
                          </a:solidFill>
                        </a:rPr>
                        <a:t>ACCEPT</a:t>
                      </a:r>
                    </a:p>
                  </a:txBody>
                  <a:tcPr>
                    <a:solidFill>
                      <a:srgbClr val="FFF4D6"/>
                    </a:solidFill>
                  </a:tcPr>
                </a:tc>
              </a:tr>
              <a:tr h="329184">
                <a:tc>
                  <a:txBody>
                    <a:bodyPr/>
                    <a:lstStyle/>
                    <a:p>
                      <a:r>
                        <a:rPr sz="1100" b="0">
                          <a:solidFill>
                            <a:srgbClr val="0B0B0B"/>
                          </a:solidFill>
                        </a:rPr>
                        <a:t>44</a:t>
                      </a:r>
                    </a:p>
                  </a:txBody>
                  <a:tcPr>
                    <a:solidFill>
                      <a:srgbClr val="FFFFFF"/>
                    </a:solidFill>
                  </a:tcPr>
                </a:tc>
                <a:tc>
                  <a:txBody>
                    <a:bodyPr/>
                    <a:lstStyle/>
                    <a:p>
                      <a:r>
                        <a:rPr sz="1100" b="0">
                          <a:solidFill>
                            <a:srgbClr val="0B0B0B"/>
                          </a:solidFill>
                        </a:rPr>
                        <a:t>E1</a:t>
                      </a:r>
                    </a:p>
                  </a:txBody>
                  <a:tcPr>
                    <a:solidFill>
                      <a:srgbClr val="FFFFFF"/>
                    </a:solidFill>
                  </a:tcPr>
                </a:tc>
                <a:tc>
                  <a:txBody>
                    <a:bodyPr/>
                    <a:lstStyle/>
                    <a:p>
                      <a:r>
                        <a:rPr sz="1100" b="0">
                          <a:solidFill>
                            <a:srgbClr val="0B0B0B"/>
                          </a:solidFill>
                        </a:rPr>
                        <a:t>C1 (stored labels)</a:t>
                      </a:r>
                    </a:p>
                  </a:txBody>
                  <a:tcPr>
                    <a:solidFill>
                      <a:srgbClr val="FFFFFF"/>
                    </a:solidFill>
                  </a:tcPr>
                </a:tc>
                <a:tc>
                  <a:txBody>
                    <a:bodyPr/>
                    <a:lstStyle/>
                    <a:p>
                      <a:r>
                        <a:rPr sz="1100" b="0">
                          <a:solidFill>
                            <a:srgbClr val="0B0B0B"/>
                          </a:solidFill>
                        </a:rPr>
                        <a:t>0.0000</a:t>
                      </a:r>
                    </a:p>
                  </a:txBody>
                  <a:tcPr>
                    <a:solidFill>
                      <a:srgbClr val="FFFFFF"/>
                    </a:solidFill>
                  </a:tcPr>
                </a:tc>
                <a:tc>
                  <a:txBody>
                    <a:bodyPr/>
                    <a:lstStyle/>
                    <a:p>
                      <a:r>
                        <a:rPr sz="1100" b="0">
                          <a:solidFill>
                            <a:srgbClr val="0B0B0B"/>
                          </a:solidFill>
                        </a:rPr>
                        <a:t>0.9461</a:t>
                      </a:r>
                    </a:p>
                  </a:txBody>
                  <a:tcPr>
                    <a:solidFill>
                      <a:srgbClr val="FFFFFF"/>
                    </a:solidFill>
                  </a:tcPr>
                </a:tc>
                <a:tc>
                  <a:txBody>
                    <a:bodyPr/>
                    <a:lstStyle/>
                    <a:p>
                      <a:r>
                        <a:rPr sz="1100" b="0">
                          <a:solidFill>
                            <a:srgbClr val="0B0B0B"/>
                          </a:solidFill>
                        </a:rPr>
                        <a:t>-</a:t>
                      </a:r>
                    </a:p>
                  </a:txBody>
                  <a:tcPr>
                    <a:solidFill>
                      <a:srgbClr val="FFFFFF"/>
                    </a:solidFill>
                  </a:tcPr>
                </a:tc>
                <a:tc>
                  <a:txBody>
                    <a:bodyPr/>
                    <a:lstStyle/>
                    <a:p>
                      <a:r>
                        <a:rPr sz="1100" b="0">
                          <a:solidFill>
                            <a:srgbClr val="0B0B0B"/>
                          </a:solidFill>
                        </a:rPr>
                        <a:t>REJECT</a:t>
                      </a:r>
                    </a:p>
                  </a:txBody>
                  <a:tcPr>
                    <a:solidFill>
                      <a:srgbClr val="FFFFFF"/>
                    </a:solidFill>
                  </a:tcPr>
                </a:tc>
              </a:tr>
              <a:tr h="329184">
                <a:tc>
                  <a:txBody>
                    <a:bodyPr/>
                    <a:lstStyle/>
                    <a:p>
                      <a:r>
                        <a:rPr sz="1100" b="1">
                          <a:solidFill>
                            <a:srgbClr val="0B0B0B"/>
                          </a:solidFill>
                        </a:rPr>
                        <a:t>44</a:t>
                      </a:r>
                    </a:p>
                  </a:txBody>
                  <a:tcPr>
                    <a:solidFill>
                      <a:srgbClr val="FFF4D6"/>
                    </a:solidFill>
                  </a:tcPr>
                </a:tc>
                <a:tc>
                  <a:txBody>
                    <a:bodyPr/>
                    <a:lstStyle/>
                    <a:p>
                      <a:r>
                        <a:rPr sz="1100" b="1">
                          <a:solidFill>
                            <a:srgbClr val="0B0B0B"/>
                          </a:solidFill>
                        </a:rPr>
                        <a:t>E1</a:t>
                      </a:r>
                    </a:p>
                  </a:txBody>
                  <a:tcPr>
                    <a:solidFill>
                      <a:srgbClr val="FFF4D6"/>
                    </a:solidFill>
                  </a:tcPr>
                </a:tc>
                <a:tc>
                  <a:txBody>
                    <a:bodyPr/>
                    <a:lstStyle/>
                    <a:p>
                      <a:r>
                        <a:rPr sz="1100" b="1">
                          <a:solidFill>
                            <a:srgbClr val="0B0B0B"/>
                          </a:solidFill>
                        </a:rPr>
                        <a:t>R1 relabel</a:t>
                      </a:r>
                    </a:p>
                  </a:txBody>
                  <a:tcPr>
                    <a:solidFill>
                      <a:srgbClr val="FFF4D6"/>
                    </a:solidFill>
                  </a:tcPr>
                </a:tc>
                <a:tc>
                  <a:txBody>
                    <a:bodyPr/>
                    <a:lstStyle/>
                    <a:p>
                      <a:r>
                        <a:rPr sz="1100" b="1">
                          <a:solidFill>
                            <a:srgbClr val="0B0B0B"/>
                          </a:solidFill>
                        </a:rPr>
                        <a:t>0.9961</a:t>
                      </a:r>
                    </a:p>
                  </a:txBody>
                  <a:tcPr>
                    <a:solidFill>
                      <a:srgbClr val="FFF4D6"/>
                    </a:solidFill>
                  </a:tcPr>
                </a:tc>
                <a:tc>
                  <a:txBody>
                    <a:bodyPr/>
                    <a:lstStyle/>
                    <a:p>
                      <a:r>
                        <a:rPr sz="1100" b="1">
                          <a:solidFill>
                            <a:srgbClr val="0B0B0B"/>
                          </a:solidFill>
                        </a:rPr>
                        <a:t>0.9461</a:t>
                      </a:r>
                    </a:p>
                  </a:txBody>
                  <a:tcPr>
                    <a:solidFill>
                      <a:srgbClr val="FFF4D6"/>
                    </a:solidFill>
                  </a:tcPr>
                </a:tc>
                <a:tc>
                  <a:txBody>
                    <a:bodyPr/>
                    <a:lstStyle/>
                    <a:p>
                      <a:r>
                        <a:rPr sz="1100" b="1">
                          <a:solidFill>
                            <a:srgbClr val="0B0B0B"/>
                          </a:solidFill>
                        </a:rPr>
                        <a:t>1995 (1995)</a:t>
                      </a:r>
                    </a:p>
                  </a:txBody>
                  <a:tcPr>
                    <a:solidFill>
                      <a:srgbClr val="FFF4D6"/>
                    </a:solidFill>
                  </a:tcPr>
                </a:tc>
                <a:tc>
                  <a:txBody>
                    <a:bodyPr/>
                    <a:lstStyle/>
                    <a:p>
                      <a:r>
                        <a:rPr sz="1100" b="1">
                          <a:solidFill>
                            <a:srgbClr val="0B0B0B"/>
                          </a:solidFill>
                        </a:rPr>
                        <a:t>ACCEPT</a:t>
                      </a:r>
                    </a:p>
                  </a:txBody>
                  <a:tcPr>
                    <a:solidFill>
                      <a:srgbClr val="FFF4D6"/>
                    </a:solidFill>
                  </a:tcPr>
                </a:tc>
              </a:tr>
              <a:tr h="329184">
                <a:tc>
                  <a:txBody>
                    <a:bodyPr/>
                    <a:lstStyle/>
                    <a:p>
                      <a:r>
                        <a:rPr sz="1100" b="0">
                          <a:solidFill>
                            <a:srgbClr val="0B0B0B"/>
                          </a:solidFill>
                        </a:rPr>
                        <a:t>44</a:t>
                      </a:r>
                    </a:p>
                  </a:txBody>
                  <a:tcPr>
                    <a:solidFill>
                      <a:srgbClr val="FFFFFF"/>
                    </a:solidFill>
                  </a:tcPr>
                </a:tc>
                <a:tc>
                  <a:txBody>
                    <a:bodyPr/>
                    <a:lstStyle/>
                    <a:p>
                      <a:r>
                        <a:rPr sz="1100" b="0">
                          <a:solidFill>
                            <a:srgbClr val="0B0B0B"/>
                          </a:solidFill>
                        </a:rPr>
                        <a:t>E2</a:t>
                      </a:r>
                    </a:p>
                  </a:txBody>
                  <a:tcPr>
                    <a:solidFill>
                      <a:srgbClr val="FFFFFF"/>
                    </a:solidFill>
                  </a:tcPr>
                </a:tc>
                <a:tc>
                  <a:txBody>
                    <a:bodyPr/>
                    <a:lstStyle/>
                    <a:p>
                      <a:r>
                        <a:rPr sz="1100" b="0">
                          <a:solidFill>
                            <a:srgbClr val="0B0B0B"/>
                          </a:solidFill>
                        </a:rPr>
                        <a:t>C1 (stored labels)</a:t>
                      </a:r>
                    </a:p>
                  </a:txBody>
                  <a:tcPr>
                    <a:solidFill>
                      <a:srgbClr val="FFFFFF"/>
                    </a:solidFill>
                  </a:tcPr>
                </a:tc>
                <a:tc>
                  <a:txBody>
                    <a:bodyPr/>
                    <a:lstStyle/>
                    <a:p>
                      <a:r>
                        <a:rPr sz="1100" b="0">
                          <a:solidFill>
                            <a:srgbClr val="0B0B0B"/>
                          </a:solidFill>
                        </a:rPr>
                        <a:t>0.0000</a:t>
                      </a:r>
                    </a:p>
                  </a:txBody>
                  <a:tcPr>
                    <a:solidFill>
                      <a:srgbClr val="FFFFFF"/>
                    </a:solidFill>
                  </a:tcPr>
                </a:tc>
                <a:tc>
                  <a:txBody>
                    <a:bodyPr/>
                    <a:lstStyle/>
                    <a:p>
                      <a:r>
                        <a:rPr sz="1100" b="0">
                          <a:solidFill>
                            <a:srgbClr val="0B0B0B"/>
                          </a:solidFill>
                        </a:rPr>
                        <a:t>0.9461</a:t>
                      </a:r>
                    </a:p>
                  </a:txBody>
                  <a:tcPr>
                    <a:solidFill>
                      <a:srgbClr val="FFFFFF"/>
                    </a:solidFill>
                  </a:tcPr>
                </a:tc>
                <a:tc>
                  <a:txBody>
                    <a:bodyPr/>
                    <a:lstStyle/>
                    <a:p>
                      <a:r>
                        <a:rPr sz="1100" b="0">
                          <a:solidFill>
                            <a:srgbClr val="0B0B0B"/>
                          </a:solidFill>
                        </a:rPr>
                        <a:t>-</a:t>
                      </a:r>
                    </a:p>
                  </a:txBody>
                  <a:tcPr>
                    <a:solidFill>
                      <a:srgbClr val="FFFFFF"/>
                    </a:solidFill>
                  </a:tcPr>
                </a:tc>
                <a:tc>
                  <a:txBody>
                    <a:bodyPr/>
                    <a:lstStyle/>
                    <a:p>
                      <a:r>
                        <a:rPr sz="1100" b="0">
                          <a:solidFill>
                            <a:srgbClr val="0B0B0B"/>
                          </a:solidFill>
                        </a:rPr>
                        <a:t>REJECT</a:t>
                      </a:r>
                    </a:p>
                  </a:txBody>
                  <a:tcPr>
                    <a:solidFill>
                      <a:srgbClr val="FFFFFF"/>
                    </a:solidFill>
                  </a:tcPr>
                </a:tc>
              </a:tr>
              <a:tr h="329184">
                <a:tc>
                  <a:txBody>
                    <a:bodyPr/>
                    <a:lstStyle/>
                    <a:p>
                      <a:r>
                        <a:rPr sz="1100" b="1">
                          <a:solidFill>
                            <a:srgbClr val="0B0B0B"/>
                          </a:solidFill>
                        </a:rPr>
                        <a:t>44</a:t>
                      </a:r>
                    </a:p>
                  </a:txBody>
                  <a:tcPr>
                    <a:solidFill>
                      <a:srgbClr val="FFF4D6"/>
                    </a:solidFill>
                  </a:tcPr>
                </a:tc>
                <a:tc>
                  <a:txBody>
                    <a:bodyPr/>
                    <a:lstStyle/>
                    <a:p>
                      <a:r>
                        <a:rPr sz="1100" b="1">
                          <a:solidFill>
                            <a:srgbClr val="0B0B0B"/>
                          </a:solidFill>
                        </a:rPr>
                        <a:t>E2</a:t>
                      </a:r>
                    </a:p>
                  </a:txBody>
                  <a:tcPr>
                    <a:solidFill>
                      <a:srgbClr val="FFF4D6"/>
                    </a:solidFill>
                  </a:tcPr>
                </a:tc>
                <a:tc>
                  <a:txBody>
                    <a:bodyPr/>
                    <a:lstStyle/>
                    <a:p>
                      <a:r>
                        <a:rPr sz="1100" b="1">
                          <a:solidFill>
                            <a:srgbClr val="0B0B0B"/>
                          </a:solidFill>
                        </a:rPr>
                        <a:t>R1 relabel</a:t>
                      </a:r>
                    </a:p>
                  </a:txBody>
                  <a:tcPr>
                    <a:solidFill>
                      <a:srgbClr val="FFF4D6"/>
                    </a:solidFill>
                  </a:tcPr>
                </a:tc>
                <a:tc>
                  <a:txBody>
                    <a:bodyPr/>
                    <a:lstStyle/>
                    <a:p>
                      <a:r>
                        <a:rPr sz="1100" b="1">
                          <a:solidFill>
                            <a:srgbClr val="0B0B0B"/>
                          </a:solidFill>
                        </a:rPr>
                        <a:t>0.9960</a:t>
                      </a:r>
                    </a:p>
                  </a:txBody>
                  <a:tcPr>
                    <a:solidFill>
                      <a:srgbClr val="FFF4D6"/>
                    </a:solidFill>
                  </a:tcPr>
                </a:tc>
                <a:tc>
                  <a:txBody>
                    <a:bodyPr/>
                    <a:lstStyle/>
                    <a:p>
                      <a:r>
                        <a:rPr sz="1100" b="1">
                          <a:solidFill>
                            <a:srgbClr val="0B0B0B"/>
                          </a:solidFill>
                        </a:rPr>
                        <a:t>0.9461</a:t>
                      </a:r>
                    </a:p>
                  </a:txBody>
                  <a:tcPr>
                    <a:solidFill>
                      <a:srgbClr val="FFF4D6"/>
                    </a:solidFill>
                  </a:tcPr>
                </a:tc>
                <a:tc>
                  <a:txBody>
                    <a:bodyPr/>
                    <a:lstStyle/>
                    <a:p>
                      <a:r>
                        <a:rPr sz="1100" b="1">
                          <a:solidFill>
                            <a:srgbClr val="0B0B0B"/>
                          </a:solidFill>
                        </a:rPr>
                        <a:t>1995 (1995)</a:t>
                      </a:r>
                    </a:p>
                  </a:txBody>
                  <a:tcPr>
                    <a:solidFill>
                      <a:srgbClr val="FFF4D6"/>
                    </a:solidFill>
                  </a:tcPr>
                </a:tc>
                <a:tc>
                  <a:txBody>
                    <a:bodyPr/>
                    <a:lstStyle/>
                    <a:p>
                      <a:r>
                        <a:rPr sz="1100" b="1">
                          <a:solidFill>
                            <a:srgbClr val="0B0B0B"/>
                          </a:solidFill>
                        </a:rPr>
                        <a:t>ACCEPT</a:t>
                      </a:r>
                    </a:p>
                  </a:txBody>
                  <a:tcPr>
                    <a:solidFill>
                      <a:srgbClr val="FFF4D6"/>
                    </a:solidFill>
                  </a:tcPr>
                </a:tc>
              </a:tr>
            </a:tbl>
          </a:graphicData>
        </a:graphic>
      </p:graphicFrame>
      <p:sp>
        <p:nvSpPr>
          <p:cNvPr id="9" name="Rounded Rectangle 8"/>
          <p:cNvSpPr/>
          <p:nvPr/>
        </p:nvSpPr>
        <p:spPr>
          <a:xfrm>
            <a:off x="8321040" y="1463040"/>
            <a:ext cx="3474720" cy="411480"/>
          </a:xfrm>
          <a:prstGeom prst="roundRect">
            <a:avLst/>
          </a:prstGeom>
          <a:solidFill>
            <a:srgbClr val="F3F2E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0B0B0B"/>
                </a:solidFill>
              </a:rPr>
              <a:t>Pre-registered sweep (context)</a:t>
            </a:r>
          </a:p>
        </p:txBody>
      </p:sp>
      <p:sp>
        <p:nvSpPr>
          <p:cNvPr id="10" name="Rounded Rectangle 9"/>
          <p:cNvSpPr/>
          <p:nvPr/>
        </p:nvSpPr>
        <p:spPr>
          <a:xfrm>
            <a:off x="8321040" y="1965960"/>
            <a:ext cx="1984248" cy="292608"/>
          </a:xfrm>
          <a:prstGeom prst="roundRect">
            <a:avLst/>
          </a:prstGeom>
          <a:solidFill>
            <a:srgbClr val="40403E"/>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100" b="1">
                <a:solidFill>
                  <a:srgbClr val="FFFFFF"/>
                </a:solidFill>
              </a:rPr>
              <a:t>PRE-REGISTERED</a:t>
            </a:r>
          </a:p>
        </p:txBody>
      </p:sp>
      <p:sp>
        <p:nvSpPr>
          <p:cNvPr id="11" name="Rounded Rectangle 10"/>
          <p:cNvSpPr/>
          <p:nvPr/>
        </p:nvSpPr>
        <p:spPr>
          <a:xfrm>
            <a:off x="10415015" y="1965960"/>
            <a:ext cx="1865376" cy="292608"/>
          </a:xfrm>
          <a:prstGeom prst="round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100" b="1">
                <a:solidFill>
                  <a:srgbClr val="FFFFFF"/>
                </a:solidFill>
              </a:rPr>
              <a:t>HELD-OUT TEST</a:t>
            </a:r>
          </a:p>
        </p:txBody>
      </p:sp>
      <p:sp>
        <p:nvSpPr>
          <p:cNvPr id="12" name="TextBox 11"/>
          <p:cNvSpPr txBox="1"/>
          <p:nvPr/>
        </p:nvSpPr>
        <p:spPr>
          <a:xfrm>
            <a:off x="8321040" y="2377440"/>
            <a:ext cx="3566160" cy="3931920"/>
          </a:xfrm>
          <a:prstGeom prst="rect">
            <a:avLst/>
          </a:prstGeom>
          <a:noFill/>
        </p:spPr>
        <p:txBody>
          <a:bodyPr wrap="square">
            <a:spAutoFit/>
          </a:bodyPr>
          <a:lstStyle/>
          <a:p>
            <a:pPr algn="l">
              <a:spcAft>
                <a:spcPts val="400"/>
              </a:spcAft>
            </a:pPr>
            <a:r>
              <a:rPr sz="1300" b="0">
                <a:solidFill>
                  <a:srgbClr val="40403E"/>
                </a:solidFill>
                <a:latin typeface="Calibri"/>
              </a:rPr>
              <a:t>• f ≤ 0.95: all 4 classes learned in 9/9 soft-repair runs vs 3/9 gate-only</a:t>
            </a:r>
          </a:p>
          <a:p>
            <a:pPr algn="l">
              <a:spcAft>
                <a:spcPts val="400"/>
              </a:spcAft>
            </a:pPr>
            <a:r>
              <a:rPr sz="1300" b="0">
                <a:solidFill>
                  <a:srgbClr val="40403E"/>
                </a:solidFill>
                <a:latin typeface="Calibri"/>
              </a:rPr>
              <a:t>• f = 1.0: soft R1 accepted 0/6; teacher weight on flipped rows ≈ 0.003: wrong labels removed, no Syn label left</a:t>
            </a:r>
          </a:p>
          <a:p>
            <a:pPr algn="l">
              <a:spcAft>
                <a:spcPts val="400"/>
              </a:spcAft>
            </a:pPr>
            <a:r>
              <a:rPr sz="1300" b="0">
                <a:solidFill>
                  <a:srgbClr val="40403E"/>
                </a:solidFill>
                <a:latin typeface="Calibri"/>
              </a:rPr>
              <a:t>• Relabel diagnostic would have passed 3/3 -&gt; FU2 deploys it (registered before its run)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lgn="l">
              <a:spcAft>
                <a:spcPts val="400"/>
              </a:spcAft>
            </a:pPr>
            <a:r>
              <a:rPr sz="2800" b="1">
                <a:solidFill>
                  <a:srgbClr val="0B0B0B"/>
                </a:solidFill>
                <a:latin typeface="Calibri"/>
              </a:rPr>
              <a:t>Result: four-class defence at 100% flips (held-out test)</a:t>
            </a:r>
          </a:p>
        </p:txBody>
      </p:sp>
      <p:sp>
        <p:nvSpPr>
          <p:cNvPr id="3" name="TextBox 2"/>
          <p:cNvSpPr txBox="1"/>
          <p:nvPr/>
        </p:nvSpPr>
        <p:spPr>
          <a:xfrm>
            <a:off x="10881360" y="6446520"/>
            <a:ext cx="1097280" cy="274320"/>
          </a:xfrm>
          <a:prstGeom prst="rect">
            <a:avLst/>
          </a:prstGeom>
          <a:noFill/>
        </p:spPr>
        <p:txBody>
          <a:bodyPr wrap="square">
            <a:spAutoFit/>
          </a:bodyPr>
          <a:lstStyle/>
          <a:p>
            <a:pPr algn="r">
              <a:spcAft>
                <a:spcPts val="400"/>
              </a:spcAft>
            </a:pPr>
            <a:r>
              <a:rPr sz="1000" b="0">
                <a:solidFill>
                  <a:srgbClr val="6E6D69"/>
                </a:solidFill>
                <a:latin typeface="Calibri"/>
              </a:rPr>
              <a:t>8 / 10</a:t>
            </a:r>
          </a:p>
        </p:txBody>
      </p:sp>
      <p:sp>
        <p:nvSpPr>
          <p:cNvPr id="4" name="TextBox 3"/>
          <p:cNvSpPr txBox="1"/>
          <p:nvPr/>
        </p:nvSpPr>
        <p:spPr>
          <a:xfrm>
            <a:off x="457200" y="6446520"/>
            <a:ext cx="8229600" cy="274320"/>
          </a:xfrm>
          <a:prstGeom prst="rect">
            <a:avLst/>
          </a:prstGeom>
          <a:noFill/>
        </p:spPr>
        <p:txBody>
          <a:bodyPr wrap="square">
            <a:spAutoFit/>
          </a:bodyPr>
          <a:lstStyle/>
          <a:p>
            <a:pPr algn="l">
              <a:spcAft>
                <a:spcPts val="400"/>
              </a:spcAft>
            </a:pPr>
            <a:r>
              <a:rPr sz="900" b="0">
                <a:solidFill>
                  <a:srgbClr val="6E6D69"/>
                </a:solidFill>
                <a:latin typeface="Calibri"/>
              </a:rPr>
              <a:t>Source: github.com/DevChi1l/cicddos2019-continual-nids (committed files; tables: docs/RESULT_TABLES.md)</a:t>
            </a:r>
          </a:p>
        </p:txBody>
      </p:sp>
      <p:sp>
        <p:nvSpPr>
          <p:cNvPr id="5" name="Rounded Rectangle 4"/>
          <p:cNvSpPr/>
          <p:nvPr/>
        </p:nvSpPr>
        <p:spPr>
          <a:xfrm>
            <a:off x="457200" y="1051560"/>
            <a:ext cx="1865376" cy="292608"/>
          </a:xfrm>
          <a:prstGeom prst="round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100" b="1">
                <a:solidFill>
                  <a:srgbClr val="FFFFFF"/>
                </a:solidFill>
              </a:rPr>
              <a:t>HELD-OUT TEST</a:t>
            </a:r>
          </a:p>
        </p:txBody>
      </p:sp>
      <p:sp>
        <p:nvSpPr>
          <p:cNvPr id="6" name="Rounded Rectangle 5"/>
          <p:cNvSpPr/>
          <p:nvPr/>
        </p:nvSpPr>
        <p:spPr>
          <a:xfrm>
            <a:off x="2432304" y="1051560"/>
            <a:ext cx="1271016" cy="292608"/>
          </a:xfrm>
          <a:prstGeom prst="roundRect">
            <a:avLst/>
          </a:prstGeom>
          <a:solidFill>
            <a:srgbClr val="B04A00"/>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100" b="1">
                <a:solidFill>
                  <a:srgbClr val="FFFFFF"/>
                </a:solidFill>
              </a:rPr>
              <a:t>POST HOC</a:t>
            </a:r>
          </a:p>
        </p:txBody>
      </p:sp>
      <p:sp>
        <p:nvSpPr>
          <p:cNvPr id="7" name="TextBox 6"/>
          <p:cNvSpPr txBox="1"/>
          <p:nvPr/>
        </p:nvSpPr>
        <p:spPr>
          <a:xfrm>
            <a:off x="3858768" y="1005840"/>
            <a:ext cx="7315200" cy="365760"/>
          </a:xfrm>
          <a:prstGeom prst="rect">
            <a:avLst/>
          </a:prstGeom>
          <a:noFill/>
        </p:spPr>
        <p:txBody>
          <a:bodyPr wrap="square">
            <a:spAutoFit/>
          </a:bodyPr>
          <a:lstStyle/>
          <a:p>
            <a:pPr algn="l">
              <a:spcAft>
                <a:spcPts val="400"/>
              </a:spcAft>
            </a:pPr>
            <a:r>
              <a:rPr sz="1300" b="0">
                <a:solidFill>
                  <a:srgbClr val="6E6D69"/>
                </a:solidFill>
                <a:latin typeface="Calibri"/>
              </a:rPr>
              <a:t>mean (min-max) over seeds 42-44; 46,527 test rows, 19,028 benign</a:t>
            </a:r>
          </a:p>
        </p:txBody>
      </p:sp>
      <p:pic>
        <p:nvPicPr>
          <p:cNvPr id="8" name="Picture 7" descr="fig3_fu2_defence.png"/>
          <p:cNvPicPr>
            <a:picLocks noChangeAspect="1"/>
          </p:cNvPicPr>
          <p:nvPr/>
        </p:nvPicPr>
        <p:blipFill>
          <a:blip r:embed="rId3"/>
          <a:stretch>
            <a:fillRect/>
          </a:stretch>
        </p:blipFill>
        <p:spPr>
          <a:xfrm>
            <a:off x="365760" y="1463040"/>
            <a:ext cx="7498079" cy="3135560"/>
          </a:xfrm>
          <a:prstGeom prst="rect">
            <a:avLst/>
          </a:prstGeom>
        </p:spPr>
      </p:pic>
      <p:graphicFrame>
        <p:nvGraphicFramePr>
          <p:cNvPr id="9" name="Table 8"/>
          <p:cNvGraphicFramePr>
            <a:graphicFrameLocks noGrp="1"/>
          </p:cNvGraphicFramePr>
          <p:nvPr/>
        </p:nvGraphicFramePr>
        <p:xfrm>
          <a:off x="8046720" y="1554480"/>
          <a:ext cx="3931920" cy="1645919"/>
        </p:xfrm>
        <a:graphic>
          <a:graphicData uri="http://schemas.openxmlformats.org/drawingml/2006/table">
            <a:tbl>
              <a:tblPr firstRow="1" bandRow="1">
                <a:tableStyleId>{5C22544A-7EE6-4342-B048-85BDC9FD1C3A}</a:tableStyleId>
              </a:tblPr>
              <a:tblGrid>
                <a:gridCol w="1143000"/>
                <a:gridCol w="685800"/>
                <a:gridCol w="685800"/>
                <a:gridCol w="685800"/>
                <a:gridCol w="731520"/>
              </a:tblGrid>
              <a:tr h="329183">
                <a:tc>
                  <a:txBody>
                    <a:bodyPr/>
                    <a:lstStyle/>
                    <a:p>
                      <a:r>
                        <a:rPr sz="1100" b="1">
                          <a:solidFill>
                            <a:srgbClr val="0B0B0B"/>
                          </a:solidFill>
                        </a:rPr>
                        <a:t>arm</a:t>
                      </a:r>
                    </a:p>
                  </a:txBody>
                  <a:tcPr>
                    <a:solidFill>
                      <a:srgbClr val="F3F2EE"/>
                    </a:solidFill>
                  </a:tcPr>
                </a:tc>
                <a:tc>
                  <a:txBody>
                    <a:bodyPr/>
                    <a:lstStyle/>
                    <a:p>
                      <a:r>
                        <a:rPr sz="1100" b="1">
                          <a:solidFill>
                            <a:srgbClr val="0B0B0B"/>
                          </a:solidFill>
                        </a:rPr>
                        <a:t>Syn</a:t>
                      </a:r>
                    </a:p>
                  </a:txBody>
                  <a:tcPr>
                    <a:solidFill>
                      <a:srgbClr val="F3F2EE"/>
                    </a:solidFill>
                  </a:tcPr>
                </a:tc>
                <a:tc>
                  <a:txBody>
                    <a:bodyPr/>
                    <a:lstStyle/>
                    <a:p>
                      <a:r>
                        <a:rPr sz="1100" b="1">
                          <a:solidFill>
                            <a:srgbClr val="0B0B0B"/>
                          </a:solidFill>
                        </a:rPr>
                        <a:t>LDAP</a:t>
                      </a:r>
                    </a:p>
                  </a:txBody>
                  <a:tcPr>
                    <a:solidFill>
                      <a:srgbClr val="F3F2EE"/>
                    </a:solidFill>
                  </a:tcPr>
                </a:tc>
                <a:tc>
                  <a:txBody>
                    <a:bodyPr/>
                    <a:lstStyle/>
                    <a:p>
                      <a:r>
                        <a:rPr sz="1100" b="1">
                          <a:solidFill>
                            <a:srgbClr val="0B0B0B"/>
                          </a:solidFill>
                        </a:rPr>
                        <a:t>UDP</a:t>
                      </a:r>
                    </a:p>
                  </a:txBody>
                  <a:tcPr>
                    <a:solidFill>
                      <a:srgbClr val="F3F2EE"/>
                    </a:solidFill>
                  </a:tcPr>
                </a:tc>
                <a:tc>
                  <a:txBody>
                    <a:bodyPr/>
                    <a:lstStyle/>
                    <a:p>
                      <a:r>
                        <a:rPr sz="1100" b="1">
                          <a:solidFill>
                            <a:srgbClr val="0B0B0B"/>
                          </a:solidFill>
                        </a:rPr>
                        <a:t>benign FAR</a:t>
                      </a:r>
                    </a:p>
                  </a:txBody>
                  <a:tcPr>
                    <a:solidFill>
                      <a:srgbClr val="F3F2EE"/>
                    </a:solidFill>
                  </a:tcPr>
                </a:tc>
              </a:tr>
              <a:tr h="329183">
                <a:tc>
                  <a:txBody>
                    <a:bodyPr/>
                    <a:lstStyle/>
                    <a:p>
                      <a:r>
                        <a:rPr sz="1100" b="0">
                          <a:solidFill>
                            <a:srgbClr val="0B0B0B"/>
                          </a:solidFill>
                        </a:rPr>
                        <a:t>clean</a:t>
                      </a:r>
                    </a:p>
                  </a:txBody>
                  <a:tcPr>
                    <a:solidFill>
                      <a:srgbClr val="FFFFFF"/>
                    </a:solidFill>
                  </a:tcPr>
                </a:tc>
                <a:tc>
                  <a:txBody>
                    <a:bodyPr/>
                    <a:lstStyle/>
                    <a:p>
                      <a:r>
                        <a:rPr sz="1100" b="0">
                          <a:solidFill>
                            <a:srgbClr val="0B0B0B"/>
                          </a:solidFill>
                        </a:rPr>
                        <a:t>0.9954</a:t>
                      </a:r>
                    </a:p>
                  </a:txBody>
                  <a:tcPr>
                    <a:solidFill>
                      <a:srgbClr val="FFFFFF"/>
                    </a:solidFill>
                  </a:tcPr>
                </a:tc>
                <a:tc>
                  <a:txBody>
                    <a:bodyPr/>
                    <a:lstStyle/>
                    <a:p>
                      <a:r>
                        <a:rPr sz="1100" b="0">
                          <a:solidFill>
                            <a:srgbClr val="0B0B0B"/>
                          </a:solidFill>
                        </a:rPr>
                        <a:t>0.9851</a:t>
                      </a:r>
                    </a:p>
                  </a:txBody>
                  <a:tcPr>
                    <a:solidFill>
                      <a:srgbClr val="FFFFFF"/>
                    </a:solidFill>
                  </a:tcPr>
                </a:tc>
                <a:tc>
                  <a:txBody>
                    <a:bodyPr/>
                    <a:lstStyle/>
                    <a:p>
                      <a:r>
                        <a:rPr sz="1100" b="0">
                          <a:solidFill>
                            <a:srgbClr val="0B0B0B"/>
                          </a:solidFill>
                        </a:rPr>
                        <a:t>0.9988</a:t>
                      </a:r>
                    </a:p>
                  </a:txBody>
                  <a:tcPr>
                    <a:solidFill>
                      <a:srgbClr val="FFFFFF"/>
                    </a:solidFill>
                  </a:tcPr>
                </a:tc>
                <a:tc>
                  <a:txBody>
                    <a:bodyPr/>
                    <a:lstStyle/>
                    <a:p>
                      <a:r>
                        <a:rPr sz="1100" b="0">
                          <a:solidFill>
                            <a:srgbClr val="0B0B0B"/>
                          </a:solidFill>
                        </a:rPr>
                        <a:t>0.0011</a:t>
                      </a:r>
                    </a:p>
                  </a:txBody>
                  <a:tcPr>
                    <a:solidFill>
                      <a:srgbClr val="FFFFFF"/>
                    </a:solidFill>
                  </a:tcPr>
                </a:tc>
              </a:tr>
              <a:tr h="329183">
                <a:tc>
                  <a:txBody>
                    <a:bodyPr/>
                    <a:lstStyle/>
                    <a:p>
                      <a:r>
                        <a:rPr sz="1100" b="0">
                          <a:solidFill>
                            <a:srgbClr val="0B0B0B"/>
                          </a:solidFill>
                        </a:rPr>
                        <a:t>gate only</a:t>
                      </a:r>
                    </a:p>
                  </a:txBody>
                  <a:tcPr>
                    <a:solidFill>
                      <a:srgbClr val="FFFFFF"/>
                    </a:solidFill>
                  </a:tcPr>
                </a:tc>
                <a:tc>
                  <a:txBody>
                    <a:bodyPr/>
                    <a:lstStyle/>
                    <a:p>
                      <a:r>
                        <a:rPr sz="1100" b="0">
                          <a:solidFill>
                            <a:srgbClr val="0B0B0B"/>
                          </a:solidFill>
                        </a:rPr>
                        <a:t>0.9953</a:t>
                      </a:r>
                    </a:p>
                  </a:txBody>
                  <a:tcPr>
                    <a:solidFill>
                      <a:srgbClr val="FFFFFF"/>
                    </a:solidFill>
                  </a:tcPr>
                </a:tc>
                <a:tc>
                  <a:txBody>
                    <a:bodyPr/>
                    <a:lstStyle/>
                    <a:p>
                      <a:r>
                        <a:rPr sz="1100" b="0">
                          <a:solidFill>
                            <a:srgbClr val="0B0B0B"/>
                          </a:solidFill>
                        </a:rPr>
                        <a:t>0.0000</a:t>
                      </a:r>
                    </a:p>
                  </a:txBody>
                  <a:tcPr>
                    <a:solidFill>
                      <a:srgbClr val="FFFFFF"/>
                    </a:solidFill>
                  </a:tcPr>
                </a:tc>
                <a:tc>
                  <a:txBody>
                    <a:bodyPr/>
                    <a:lstStyle/>
                    <a:p>
                      <a:r>
                        <a:rPr sz="1100" b="0">
                          <a:solidFill>
                            <a:srgbClr val="0B0B0B"/>
                          </a:solidFill>
                        </a:rPr>
                        <a:t>0.0000</a:t>
                      </a:r>
                    </a:p>
                  </a:txBody>
                  <a:tcPr>
                    <a:solidFill>
                      <a:srgbClr val="FFFFFF"/>
                    </a:solidFill>
                  </a:tcPr>
                </a:tc>
                <a:tc>
                  <a:txBody>
                    <a:bodyPr/>
                    <a:lstStyle/>
                    <a:p>
                      <a:r>
                        <a:rPr sz="1100" b="0">
                          <a:solidFill>
                            <a:srgbClr val="0B0B0B"/>
                          </a:solidFill>
                        </a:rPr>
                        <a:t>0.0000</a:t>
                      </a:r>
                    </a:p>
                  </a:txBody>
                  <a:tcPr>
                    <a:solidFill>
                      <a:srgbClr val="FFFFFF"/>
                    </a:solidFill>
                  </a:tcPr>
                </a:tc>
              </a:tr>
              <a:tr h="329183">
                <a:tc>
                  <a:txBody>
                    <a:bodyPr/>
                    <a:lstStyle/>
                    <a:p>
                      <a:r>
                        <a:rPr sz="1100" b="0">
                          <a:solidFill>
                            <a:srgbClr val="0B0B0B"/>
                          </a:solidFill>
                        </a:rPr>
                        <a:t>soft repair</a:t>
                      </a:r>
                    </a:p>
                  </a:txBody>
                  <a:tcPr>
                    <a:solidFill>
                      <a:srgbClr val="FFFFFF"/>
                    </a:solidFill>
                  </a:tcPr>
                </a:tc>
                <a:tc>
                  <a:txBody>
                    <a:bodyPr/>
                    <a:lstStyle/>
                    <a:p>
                      <a:r>
                        <a:rPr sz="1100" b="0">
                          <a:solidFill>
                            <a:srgbClr val="0B0B0B"/>
                          </a:solidFill>
                        </a:rPr>
                        <a:t>0.9953</a:t>
                      </a:r>
                    </a:p>
                  </a:txBody>
                  <a:tcPr>
                    <a:solidFill>
                      <a:srgbClr val="FFFFFF"/>
                    </a:solidFill>
                  </a:tcPr>
                </a:tc>
                <a:tc>
                  <a:txBody>
                    <a:bodyPr/>
                    <a:lstStyle/>
                    <a:p>
                      <a:r>
                        <a:rPr sz="1100" b="0">
                          <a:solidFill>
                            <a:srgbClr val="0B0B0B"/>
                          </a:solidFill>
                        </a:rPr>
                        <a:t>0.0000</a:t>
                      </a:r>
                    </a:p>
                  </a:txBody>
                  <a:tcPr>
                    <a:solidFill>
                      <a:srgbClr val="FFFFFF"/>
                    </a:solidFill>
                  </a:tcPr>
                </a:tc>
                <a:tc>
                  <a:txBody>
                    <a:bodyPr/>
                    <a:lstStyle/>
                    <a:p>
                      <a:r>
                        <a:rPr sz="1100" b="0">
                          <a:solidFill>
                            <a:srgbClr val="0B0B0B"/>
                          </a:solidFill>
                        </a:rPr>
                        <a:t>0.0000</a:t>
                      </a:r>
                    </a:p>
                  </a:txBody>
                  <a:tcPr>
                    <a:solidFill>
                      <a:srgbClr val="FFFFFF"/>
                    </a:solidFill>
                  </a:tcPr>
                </a:tc>
                <a:tc>
                  <a:txBody>
                    <a:bodyPr/>
                    <a:lstStyle/>
                    <a:p>
                      <a:r>
                        <a:rPr sz="1100" b="0">
                          <a:solidFill>
                            <a:srgbClr val="0B0B0B"/>
                          </a:solidFill>
                        </a:rPr>
                        <a:t>0.0000</a:t>
                      </a:r>
                    </a:p>
                  </a:txBody>
                  <a:tcPr>
                    <a:solidFill>
                      <a:srgbClr val="FFFFFF"/>
                    </a:solidFill>
                  </a:tcPr>
                </a:tc>
              </a:tr>
              <a:tr h="329187">
                <a:tc>
                  <a:txBody>
                    <a:bodyPr/>
                    <a:lstStyle/>
                    <a:p>
                      <a:r>
                        <a:rPr sz="1100" b="1">
                          <a:solidFill>
                            <a:srgbClr val="0B0B0B"/>
                          </a:solidFill>
                        </a:rPr>
                        <a:t>relabel (FU2)</a:t>
                      </a:r>
                    </a:p>
                  </a:txBody>
                  <a:tcPr>
                    <a:solidFill>
                      <a:srgbClr val="FFF4D6"/>
                    </a:solidFill>
                  </a:tcPr>
                </a:tc>
                <a:tc>
                  <a:txBody>
                    <a:bodyPr/>
                    <a:lstStyle/>
                    <a:p>
                      <a:r>
                        <a:rPr sz="1100" b="1">
                          <a:solidFill>
                            <a:srgbClr val="0B0B0B"/>
                          </a:solidFill>
                        </a:rPr>
                        <a:t>0.9952</a:t>
                      </a:r>
                    </a:p>
                  </a:txBody>
                  <a:tcPr>
                    <a:solidFill>
                      <a:srgbClr val="FFF4D6"/>
                    </a:solidFill>
                  </a:tcPr>
                </a:tc>
                <a:tc>
                  <a:txBody>
                    <a:bodyPr/>
                    <a:lstStyle/>
                    <a:p>
                      <a:r>
                        <a:rPr sz="1100" b="1">
                          <a:solidFill>
                            <a:srgbClr val="0B0B0B"/>
                          </a:solidFill>
                        </a:rPr>
                        <a:t>0.9825</a:t>
                      </a:r>
                    </a:p>
                  </a:txBody>
                  <a:tcPr>
                    <a:solidFill>
                      <a:srgbClr val="FFF4D6"/>
                    </a:solidFill>
                  </a:tcPr>
                </a:tc>
                <a:tc>
                  <a:txBody>
                    <a:bodyPr/>
                    <a:lstStyle/>
                    <a:p>
                      <a:r>
                        <a:rPr sz="1100" b="1">
                          <a:solidFill>
                            <a:srgbClr val="0B0B0B"/>
                          </a:solidFill>
                        </a:rPr>
                        <a:t>0.9983</a:t>
                      </a:r>
                    </a:p>
                  </a:txBody>
                  <a:tcPr>
                    <a:solidFill>
                      <a:srgbClr val="FFF4D6"/>
                    </a:solidFill>
                  </a:tcPr>
                </a:tc>
                <a:tc>
                  <a:txBody>
                    <a:bodyPr/>
                    <a:lstStyle/>
                    <a:p>
                      <a:r>
                        <a:rPr sz="1100" b="1">
                          <a:solidFill>
                            <a:srgbClr val="0B0B0B"/>
                          </a:solidFill>
                        </a:rPr>
                        <a:t>0.0011</a:t>
                      </a:r>
                    </a:p>
                  </a:txBody>
                  <a:tcPr>
                    <a:solidFill>
                      <a:srgbClr val="FFF4D6"/>
                    </a:solidFill>
                  </a:tcPr>
                </a:tc>
              </a:tr>
            </a:tbl>
          </a:graphicData>
        </a:graphic>
      </p:graphicFrame>
      <p:sp>
        <p:nvSpPr>
          <p:cNvPr id="10" name="TextBox 9"/>
          <p:cNvSpPr txBox="1"/>
          <p:nvPr/>
        </p:nvSpPr>
        <p:spPr>
          <a:xfrm>
            <a:off x="8046720" y="3474720"/>
            <a:ext cx="3931920" cy="2743200"/>
          </a:xfrm>
          <a:prstGeom prst="rect">
            <a:avLst/>
          </a:prstGeom>
          <a:noFill/>
        </p:spPr>
        <p:txBody>
          <a:bodyPr wrap="square">
            <a:spAutoFit/>
          </a:bodyPr>
          <a:lstStyle/>
          <a:p>
            <a:pPr algn="l">
              <a:spcAft>
                <a:spcPts val="400"/>
              </a:spcAft>
            </a:pPr>
            <a:r>
              <a:rPr sz="1300" b="0">
                <a:solidFill>
                  <a:srgbClr val="40403E"/>
                </a:solidFill>
                <a:latin typeface="Calibri"/>
              </a:rPr>
              <a:t>• H3 (Syn ≥ 0.95, LDAP &amp; UDP ≥ 0.80, FAR ≤ 0.05) met in 3/3 seeds</a:t>
            </a:r>
          </a:p>
          <a:p>
            <a:pPr algn="l">
              <a:spcAft>
                <a:spcPts val="400"/>
              </a:spcAft>
            </a:pPr>
            <a:r>
              <a:rPr sz="1300" b="0">
                <a:solidFill>
                  <a:srgbClr val="40403E"/>
                </a:solidFill>
                <a:latin typeface="Calibri"/>
              </a:rPr>
              <a:t>• FAR 0 for gate-only is NOT safety: the stale A0 labels LDAP/UDP traffic benign</a:t>
            </a:r>
          </a:p>
          <a:p>
            <a:pPr algn="l">
              <a:spcAft>
                <a:spcPts val="400"/>
              </a:spcAft>
            </a:pPr>
            <a:r>
              <a:rPr sz="1300" b="0">
                <a:solidFill>
                  <a:srgbClr val="40403E"/>
                </a:solidFill>
                <a:latin typeface="Calibri"/>
              </a:rPr>
              <a:t>• Scope: 4 labels, Syn attacked, CII, 3 seeds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lgn="l">
              <a:spcAft>
                <a:spcPts val="400"/>
              </a:spcAft>
            </a:pPr>
            <a:r>
              <a:rPr sz="2800" b="1">
                <a:solidFill>
                  <a:srgbClr val="0B0B0B"/>
                </a:solidFill>
                <a:latin typeface="Calibri"/>
              </a:rPr>
              <a:t>Limitation: the 12-label continual setting is not solved</a:t>
            </a:r>
          </a:p>
        </p:txBody>
      </p:sp>
      <p:sp>
        <p:nvSpPr>
          <p:cNvPr id="3" name="TextBox 2"/>
          <p:cNvSpPr txBox="1"/>
          <p:nvPr/>
        </p:nvSpPr>
        <p:spPr>
          <a:xfrm>
            <a:off x="10881360" y="6446520"/>
            <a:ext cx="1097280" cy="274320"/>
          </a:xfrm>
          <a:prstGeom prst="rect">
            <a:avLst/>
          </a:prstGeom>
          <a:noFill/>
        </p:spPr>
        <p:txBody>
          <a:bodyPr wrap="square">
            <a:spAutoFit/>
          </a:bodyPr>
          <a:lstStyle/>
          <a:p>
            <a:pPr algn="r">
              <a:spcAft>
                <a:spcPts val="400"/>
              </a:spcAft>
            </a:pPr>
            <a:r>
              <a:rPr sz="1000" b="0">
                <a:solidFill>
                  <a:srgbClr val="6E6D69"/>
                </a:solidFill>
                <a:latin typeface="Calibri"/>
              </a:rPr>
              <a:t>9 / 10</a:t>
            </a:r>
          </a:p>
        </p:txBody>
      </p:sp>
      <p:sp>
        <p:nvSpPr>
          <p:cNvPr id="4" name="TextBox 3"/>
          <p:cNvSpPr txBox="1"/>
          <p:nvPr/>
        </p:nvSpPr>
        <p:spPr>
          <a:xfrm>
            <a:off x="457200" y="6446520"/>
            <a:ext cx="8229600" cy="274320"/>
          </a:xfrm>
          <a:prstGeom prst="rect">
            <a:avLst/>
          </a:prstGeom>
          <a:noFill/>
        </p:spPr>
        <p:txBody>
          <a:bodyPr wrap="square">
            <a:spAutoFit/>
          </a:bodyPr>
          <a:lstStyle/>
          <a:p>
            <a:pPr algn="l">
              <a:spcAft>
                <a:spcPts val="400"/>
              </a:spcAft>
            </a:pPr>
            <a:r>
              <a:rPr sz="900" b="0">
                <a:solidFill>
                  <a:srgbClr val="6E6D69"/>
                </a:solidFill>
                <a:latin typeface="Calibri"/>
              </a:rPr>
              <a:t>Source: github.com/DevChi1l/cicddos2019-continual-nids (committed files; tables: docs/RESULT_TABLES.md)</a:t>
            </a:r>
          </a:p>
        </p:txBody>
      </p:sp>
      <p:sp>
        <p:nvSpPr>
          <p:cNvPr id="5" name="Rounded Rectangle 4"/>
          <p:cNvSpPr/>
          <p:nvPr/>
        </p:nvSpPr>
        <p:spPr>
          <a:xfrm>
            <a:off x="457200" y="1051560"/>
            <a:ext cx="1865376" cy="292608"/>
          </a:xfrm>
          <a:prstGeom prst="round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100" b="1">
                <a:solidFill>
                  <a:srgbClr val="FFFFFF"/>
                </a:solidFill>
              </a:rPr>
              <a:t>HELD-OUT TEST</a:t>
            </a:r>
          </a:p>
        </p:txBody>
      </p:sp>
      <p:sp>
        <p:nvSpPr>
          <p:cNvPr id="6" name="Rounded Rectangle 5"/>
          <p:cNvSpPr/>
          <p:nvPr/>
        </p:nvSpPr>
        <p:spPr>
          <a:xfrm>
            <a:off x="2432304" y="1051560"/>
            <a:ext cx="1508760" cy="292608"/>
          </a:xfrm>
          <a:prstGeom prst="roundRect">
            <a:avLst/>
          </a:prstGeom>
          <a:solidFill>
            <a:srgbClr val="E34948"/>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100" b="1">
                <a:solidFill>
                  <a:srgbClr val="FFFFFF"/>
                </a:solidFill>
              </a:rPr>
              <a:t>LIMITATION</a:t>
            </a:r>
          </a:p>
        </p:txBody>
      </p:sp>
      <p:sp>
        <p:nvSpPr>
          <p:cNvPr id="7" name="Rounded Rectangle 6"/>
          <p:cNvSpPr/>
          <p:nvPr/>
        </p:nvSpPr>
        <p:spPr>
          <a:xfrm>
            <a:off x="4050792" y="1051560"/>
            <a:ext cx="1508760" cy="292608"/>
          </a:xfrm>
          <a:prstGeom prst="roundRect">
            <a:avLst/>
          </a:prstGeom>
          <a:solidFill>
            <a:srgbClr val="6E6D69"/>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100" b="1">
                <a:solidFill>
                  <a:srgbClr val="FFFFFF"/>
                </a:solidFill>
              </a:rPr>
              <a:t>DIAGNOSTIC</a:t>
            </a:r>
          </a:p>
        </p:txBody>
      </p:sp>
      <p:sp>
        <p:nvSpPr>
          <p:cNvPr id="8" name="TextBox 7"/>
          <p:cNvSpPr txBox="1"/>
          <p:nvPr/>
        </p:nvSpPr>
        <p:spPr>
          <a:xfrm>
            <a:off x="5715000" y="1005840"/>
            <a:ext cx="5486400" cy="365760"/>
          </a:xfrm>
          <a:prstGeom prst="rect">
            <a:avLst/>
          </a:prstGeom>
          <a:noFill/>
        </p:spPr>
        <p:txBody>
          <a:bodyPr wrap="square">
            <a:spAutoFit/>
          </a:bodyPr>
          <a:lstStyle/>
          <a:p>
            <a:pPr algn="l">
              <a:spcAft>
                <a:spcPts val="400"/>
              </a:spcAft>
            </a:pPr>
            <a:r>
              <a:rPr sz="1300" b="0">
                <a:solidFill>
                  <a:srgbClr val="6E6D69"/>
                </a:solidFill>
                <a:latin typeface="Calibri"/>
              </a:rPr>
              <a:t>oracle = one jointly trained model, not continual</a:t>
            </a:r>
          </a:p>
        </p:txBody>
      </p:sp>
      <p:pic>
        <p:nvPicPr>
          <p:cNvPr id="9" name="Picture 8" descr="fig4_12label_vs_oracle.png"/>
          <p:cNvPicPr>
            <a:picLocks noChangeAspect="1"/>
          </p:cNvPicPr>
          <p:nvPr/>
        </p:nvPicPr>
        <p:blipFill>
          <a:blip r:embed="rId3"/>
          <a:stretch>
            <a:fillRect/>
          </a:stretch>
        </p:blipFill>
        <p:spPr>
          <a:xfrm>
            <a:off x="365760" y="1463040"/>
            <a:ext cx="8229600" cy="3291840"/>
          </a:xfrm>
          <a:prstGeom prst="rect">
            <a:avLst/>
          </a:prstGeom>
        </p:spPr>
      </p:pic>
      <p:sp>
        <p:nvSpPr>
          <p:cNvPr id="10" name="TextBox 9"/>
          <p:cNvSpPr txBox="1"/>
          <p:nvPr/>
        </p:nvSpPr>
        <p:spPr>
          <a:xfrm>
            <a:off x="8778240" y="1463040"/>
            <a:ext cx="3200400" cy="4754880"/>
          </a:xfrm>
          <a:prstGeom prst="rect">
            <a:avLst/>
          </a:prstGeom>
          <a:noFill/>
        </p:spPr>
        <p:txBody>
          <a:bodyPr wrap="square">
            <a:spAutoFit/>
          </a:bodyPr>
          <a:lstStyle/>
          <a:p>
            <a:pPr algn="l">
              <a:spcAft>
                <a:spcPts val="400"/>
              </a:spcAft>
            </a:pPr>
            <a:r>
              <a:rPr sz="1300" b="1">
                <a:solidFill>
                  <a:srgbClr val="0B0B0B"/>
                </a:solidFill>
                <a:latin typeface="Calibri"/>
              </a:rPr>
              <a:t>• Continual s3 clean: </a:t>
            </a:r>
            <a:r>
              <a:rPr sz="1300" b="0">
                <a:solidFill>
                  <a:srgbClr val="40403E"/>
                </a:solidFill>
                <a:latin typeface="Calibri"/>
              </a:rPr>
              <a:t>6/12 classes, macro recall 0.492 (one seed)</a:t>
            </a:r>
          </a:p>
          <a:p>
            <a:pPr algn="l">
              <a:spcAft>
                <a:spcPts val="400"/>
              </a:spcAft>
            </a:pPr>
            <a:r>
              <a:rPr sz="1300" b="1">
                <a:solidFill>
                  <a:srgbClr val="0B0B0B"/>
                </a:solidFill>
                <a:latin typeface="Calibri"/>
              </a:rPr>
              <a:t>• FU1 retry: </a:t>
            </a:r>
            <a:r>
              <a:rPr sz="1300" b="0">
                <a:solidFill>
                  <a:srgbClr val="40403E"/>
                </a:solidFill>
                <a:latin typeface="Calibri"/>
              </a:rPr>
              <a:t>6/12, macro 0.471; DNS/LDAP 0.83/0.83 learned, MSSQL/NTP lost</a:t>
            </a:r>
          </a:p>
          <a:p>
            <a:pPr algn="l">
              <a:spcAft>
                <a:spcPts val="400"/>
              </a:spcAft>
            </a:pPr>
            <a:r>
              <a:rPr sz="1300" b="1">
                <a:solidFill>
                  <a:srgbClr val="0B0B0B"/>
                </a:solidFill>
                <a:latin typeface="Calibri"/>
              </a:rPr>
              <a:t>• Joint oracle (diagnostic): </a:t>
            </a:r>
            <a:r>
              <a:rPr sz="1300" b="0">
                <a:solidFill>
                  <a:srgbClr val="40403E"/>
                </a:solidFill>
                <a:latin typeface="Calibri"/>
              </a:rPr>
              <a:t>macro 0.816/0.829; DNS 0.65, LDAP 0.63, UDP 0.48</a:t>
            </a:r>
          </a:p>
          <a:p>
            <a:pPr algn="l">
              <a:spcAft>
                <a:spcPts val="400"/>
              </a:spcAft>
            </a:pPr>
            <a:r>
              <a:rPr sz="1300" b="1">
                <a:solidFill>
                  <a:srgbClr val="0B0B0B"/>
                </a:solidFill>
                <a:latin typeface="Calibri"/>
              </a:rPr>
              <a:t>• Claim: </a:t>
            </a:r>
            <a:r>
              <a:rPr sz="1300" b="0">
                <a:solidFill>
                  <a:srgbClr val="40403E"/>
                </a:solidFill>
                <a:latin typeface="Calibri"/>
              </a:rPr>
              <a:t>no 12- or 14-label defence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lgn="l">
              <a:spcAft>
                <a:spcPts val="400"/>
              </a:spcAft>
            </a:pPr>
            <a:r>
              <a:rPr sz="2800" b="1">
                <a:solidFill>
                  <a:srgbClr val="0B0B0B"/>
                </a:solidFill>
                <a:latin typeface="Calibri"/>
              </a:rPr>
              <a:t>Limitation: confidence loss the recall-based gate does not see (RF)</a:t>
            </a:r>
          </a:p>
        </p:txBody>
      </p:sp>
      <p:sp>
        <p:nvSpPr>
          <p:cNvPr id="3" name="TextBox 2"/>
          <p:cNvSpPr txBox="1"/>
          <p:nvPr/>
        </p:nvSpPr>
        <p:spPr>
          <a:xfrm>
            <a:off x="10881360" y="6446520"/>
            <a:ext cx="1097280" cy="274320"/>
          </a:xfrm>
          <a:prstGeom prst="rect">
            <a:avLst/>
          </a:prstGeom>
          <a:noFill/>
        </p:spPr>
        <p:txBody>
          <a:bodyPr wrap="square">
            <a:spAutoFit/>
          </a:bodyPr>
          <a:lstStyle/>
          <a:p>
            <a:pPr algn="r">
              <a:spcAft>
                <a:spcPts val="400"/>
              </a:spcAft>
            </a:pPr>
            <a:r>
              <a:rPr sz="1000" b="0">
                <a:solidFill>
                  <a:srgbClr val="6E6D69"/>
                </a:solidFill>
                <a:latin typeface="Calibri"/>
              </a:rPr>
              <a:t>10 / 10</a:t>
            </a:r>
          </a:p>
        </p:txBody>
      </p:sp>
      <p:sp>
        <p:nvSpPr>
          <p:cNvPr id="4" name="TextBox 3"/>
          <p:cNvSpPr txBox="1"/>
          <p:nvPr/>
        </p:nvSpPr>
        <p:spPr>
          <a:xfrm>
            <a:off x="457200" y="6446520"/>
            <a:ext cx="8229600" cy="274320"/>
          </a:xfrm>
          <a:prstGeom prst="rect">
            <a:avLst/>
          </a:prstGeom>
          <a:noFill/>
        </p:spPr>
        <p:txBody>
          <a:bodyPr wrap="square">
            <a:spAutoFit/>
          </a:bodyPr>
          <a:lstStyle/>
          <a:p>
            <a:pPr algn="l">
              <a:spcAft>
                <a:spcPts val="400"/>
              </a:spcAft>
            </a:pPr>
            <a:r>
              <a:rPr sz="900" b="0">
                <a:solidFill>
                  <a:srgbClr val="6E6D69"/>
                </a:solidFill>
                <a:latin typeface="Calibri"/>
              </a:rPr>
              <a:t>Source: github.com/DevChi1l/cicddos2019-continual-nids (committed files; tables: docs/RESULT_TABLES.md)</a:t>
            </a:r>
          </a:p>
        </p:txBody>
      </p:sp>
      <p:sp>
        <p:nvSpPr>
          <p:cNvPr id="5" name="Rounded Rectangle 4"/>
          <p:cNvSpPr/>
          <p:nvPr/>
        </p:nvSpPr>
        <p:spPr>
          <a:xfrm>
            <a:off x="457200" y="1051560"/>
            <a:ext cx="1508760" cy="292608"/>
          </a:xfrm>
          <a:prstGeom prst="roundRect">
            <a:avLst/>
          </a:prstGeom>
          <a:solidFill>
            <a:srgbClr val="1C5CAB"/>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100" b="1">
                <a:solidFill>
                  <a:srgbClr val="FFFFFF"/>
                </a:solidFill>
              </a:rPr>
              <a:t>VALIDATION</a:t>
            </a:r>
          </a:p>
        </p:txBody>
      </p:sp>
      <p:sp>
        <p:nvSpPr>
          <p:cNvPr id="6" name="Rounded Rectangle 5"/>
          <p:cNvSpPr/>
          <p:nvPr/>
        </p:nvSpPr>
        <p:spPr>
          <a:xfrm>
            <a:off x="2075688" y="1051560"/>
            <a:ext cx="1865376" cy="292608"/>
          </a:xfrm>
          <a:prstGeom prst="roundRect">
            <a:avLst/>
          </a:prstGeom>
          <a:solidFill>
            <a:srgbClr val="006633"/>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100" b="1">
                <a:solidFill>
                  <a:srgbClr val="FFFFFF"/>
                </a:solidFill>
              </a:rPr>
              <a:t>HELD-OUT TEST</a:t>
            </a:r>
          </a:p>
        </p:txBody>
      </p:sp>
      <p:sp>
        <p:nvSpPr>
          <p:cNvPr id="7" name="Rounded Rectangle 6"/>
          <p:cNvSpPr/>
          <p:nvPr/>
        </p:nvSpPr>
        <p:spPr>
          <a:xfrm>
            <a:off x="4050792" y="1051560"/>
            <a:ext cx="1271016" cy="292608"/>
          </a:xfrm>
          <a:prstGeom prst="roundRect">
            <a:avLst/>
          </a:prstGeom>
          <a:solidFill>
            <a:srgbClr val="B04A00"/>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100" b="1">
                <a:solidFill>
                  <a:srgbClr val="FFFFFF"/>
                </a:solidFill>
              </a:rPr>
              <a:t>POST HOC</a:t>
            </a:r>
          </a:p>
        </p:txBody>
      </p:sp>
      <p:sp>
        <p:nvSpPr>
          <p:cNvPr id="8" name="Rounded Rectangle 7"/>
          <p:cNvSpPr/>
          <p:nvPr/>
        </p:nvSpPr>
        <p:spPr>
          <a:xfrm>
            <a:off x="5431536" y="1051560"/>
            <a:ext cx="1508760" cy="292608"/>
          </a:xfrm>
          <a:prstGeom prst="roundRect">
            <a:avLst/>
          </a:prstGeom>
          <a:solidFill>
            <a:srgbClr val="E34948"/>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a:lstStyle/>
          <a:p>
            <a:pPr algn="ctr"/>
            <a:r>
              <a:rPr sz="1100" b="1">
                <a:solidFill>
                  <a:srgbClr val="FFFFFF"/>
                </a:solidFill>
              </a:rPr>
              <a:t>LIMITATION</a:t>
            </a:r>
          </a:p>
        </p:txBody>
      </p:sp>
      <p:pic>
        <p:nvPicPr>
          <p:cNvPr id="9" name="Picture 8" descr="fig6_rf_trajectory.png"/>
          <p:cNvPicPr>
            <a:picLocks noChangeAspect="1"/>
          </p:cNvPicPr>
          <p:nvPr/>
        </p:nvPicPr>
        <p:blipFill>
          <a:blip r:embed="rId3"/>
          <a:stretch>
            <a:fillRect/>
          </a:stretch>
        </p:blipFill>
        <p:spPr>
          <a:xfrm>
            <a:off x="365760" y="1417320"/>
            <a:ext cx="7203989" cy="4846320"/>
          </a:xfrm>
          <a:prstGeom prst="rect">
            <a:avLst/>
          </a:prstGeom>
        </p:spPr>
      </p:pic>
      <p:sp>
        <p:nvSpPr>
          <p:cNvPr id="10" name="TextBox 9"/>
          <p:cNvSpPr txBox="1"/>
          <p:nvPr/>
        </p:nvSpPr>
        <p:spPr>
          <a:xfrm>
            <a:off x="7955279" y="1463040"/>
            <a:ext cx="4023360" cy="4846320"/>
          </a:xfrm>
          <a:prstGeom prst="rect">
            <a:avLst/>
          </a:prstGeom>
          <a:noFill/>
        </p:spPr>
        <p:txBody>
          <a:bodyPr wrap="square">
            <a:spAutoFit/>
          </a:bodyPr>
          <a:lstStyle/>
          <a:p>
            <a:pPr algn="l">
              <a:spcAft>
                <a:spcPts val="400"/>
              </a:spcAft>
            </a:pPr>
            <a:r>
              <a:rPr sz="1300" b="1">
                <a:solidFill>
                  <a:srgbClr val="0B0B0B"/>
                </a:solidFill>
                <a:latin typeface="Calibri"/>
              </a:rPr>
              <a:t>• Setting: </a:t>
            </a:r>
            <a:r>
              <a:rPr sz="1300" b="0">
                <a:solidFill>
                  <a:srgbClr val="40403E"/>
                </a:solidFill>
                <a:latin typeface="Calibri"/>
              </a:rPr>
              <a:t>BENIGN, Syn, TFTP fixed; 6 refresh updates; no new class</a:t>
            </a:r>
          </a:p>
          <a:p>
            <a:pPr algn="l">
              <a:spcAft>
                <a:spcPts val="400"/>
              </a:spcAft>
            </a:pPr>
            <a:r>
              <a:rPr sz="1300" b="1">
                <a:solidFill>
                  <a:srgbClr val="0B0B0B"/>
                </a:solidFill>
                <a:latin typeface="Calibri"/>
              </a:rPr>
              <a:t>• Attack: </a:t>
            </a:r>
            <a:r>
              <a:rPr sz="1300" b="0">
                <a:solidFill>
                  <a:srgbClr val="40403E"/>
                </a:solidFill>
                <a:latin typeface="Calibri"/>
              </a:rPr>
              <a:t>+10% stored Syn labels flipped per update -&gt; 60% after E6</a:t>
            </a:r>
          </a:p>
          <a:p>
            <a:pPr algn="l">
              <a:spcAft>
                <a:spcPts val="400"/>
              </a:spcAft>
            </a:pPr>
            <a:r>
              <a:rPr sz="1300" b="1">
                <a:solidFill>
                  <a:srgbClr val="0B0B0B"/>
                </a:solidFill>
                <a:latin typeface="Calibri"/>
              </a:rPr>
              <a:t>• Gate: </a:t>
            </a:r>
            <a:r>
              <a:rPr sz="1300" b="0">
                <a:solidFill>
                  <a:srgbClr val="40403E"/>
                </a:solidFill>
                <a:latin typeface="Calibri"/>
              </a:rPr>
              <a:t>poisoned C1 accepted 36/36; repair R1 ran 0 times</a:t>
            </a:r>
          </a:p>
          <a:p>
            <a:pPr algn="l">
              <a:spcAft>
                <a:spcPts val="400"/>
              </a:spcAft>
            </a:pPr>
            <a:r>
              <a:rPr sz="1300" b="1">
                <a:solidFill>
                  <a:srgbClr val="0B0B0B"/>
                </a:solidFill>
                <a:latin typeface="Calibri"/>
              </a:rPr>
              <a:t>• Test, A6 (10%): </a:t>
            </a:r>
            <a:r>
              <a:rPr sz="1300" b="0">
                <a:solidFill>
                  <a:srgbClr val="40403E"/>
                </a:solidFill>
                <a:latin typeface="Calibri"/>
              </a:rPr>
              <a:t>Syn recall 0.9943 vs 0.9952 clean; mean Syn confidence 0.7707 vs 0.9922</a:t>
            </a:r>
          </a:p>
          <a:p>
            <a:pPr algn="l">
              <a:spcAft>
                <a:spcPts val="400"/>
              </a:spcAft>
            </a:pPr>
            <a:r>
              <a:rPr sz="1300" b="1">
                <a:solidFill>
                  <a:srgbClr val="0B0B0B"/>
                </a:solidFill>
                <a:latin typeface="Calibri"/>
              </a:rPr>
              <a:t>• Not claimed: </a:t>
            </a:r>
            <a:r>
              <a:rPr sz="1300" b="0">
                <a:solidFill>
                  <a:srgbClr val="40403E"/>
                </a:solidFill>
                <a:latin typeface="Calibri"/>
              </a:rPr>
              <a:t>that repair fixed this (it never ran); new-class arrival</a:t>
            </a:r>
          </a:p>
          <a:p>
            <a:pPr algn="l">
              <a:spcAft>
                <a:spcPts val="400"/>
              </a:spcAft>
            </a:pPr>
            <a:r>
              <a:rPr sz="1300" b="1">
                <a:solidFill>
                  <a:srgbClr val="0B0B0B"/>
                </a:solidFill>
                <a:latin typeface="Calibri"/>
              </a:rPr>
              <a:t>• Next (proposal): </a:t>
            </a:r>
            <a:r>
              <a:rPr sz="1300" b="0">
                <a:solidFill>
                  <a:srgbClr val="40403E"/>
                </a:solidFill>
                <a:latin typeface="Calibri"/>
              </a:rPr>
              <a:t>a pre-registered confidence check in the gate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